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842" r:id="rId2"/>
    <p:sldId id="536" r:id="rId3"/>
    <p:sldId id="537" r:id="rId4"/>
    <p:sldId id="538" r:id="rId5"/>
    <p:sldId id="539" r:id="rId6"/>
    <p:sldId id="540" r:id="rId7"/>
    <p:sldId id="541" r:id="rId8"/>
    <p:sldId id="542" r:id="rId9"/>
    <p:sldId id="543" r:id="rId10"/>
    <p:sldId id="545" r:id="rId11"/>
    <p:sldId id="546" r:id="rId12"/>
    <p:sldId id="547" r:id="rId13"/>
    <p:sldId id="548" r:id="rId14"/>
    <p:sldId id="549" r:id="rId15"/>
    <p:sldId id="553" r:id="rId16"/>
    <p:sldId id="554" r:id="rId17"/>
    <p:sldId id="555" r:id="rId18"/>
    <p:sldId id="556" r:id="rId19"/>
    <p:sldId id="557" r:id="rId20"/>
    <p:sldId id="558" r:id="rId21"/>
    <p:sldId id="559" r:id="rId22"/>
    <p:sldId id="560" r:id="rId23"/>
    <p:sldId id="561" r:id="rId24"/>
    <p:sldId id="562" r:id="rId25"/>
    <p:sldId id="563" r:id="rId26"/>
    <p:sldId id="564" r:id="rId27"/>
    <p:sldId id="565" r:id="rId28"/>
    <p:sldId id="566" r:id="rId29"/>
    <p:sldId id="567" r:id="rId30"/>
    <p:sldId id="568" r:id="rId31"/>
    <p:sldId id="569" r:id="rId32"/>
    <p:sldId id="570" r:id="rId33"/>
    <p:sldId id="571" r:id="rId34"/>
    <p:sldId id="572" r:id="rId35"/>
    <p:sldId id="573" r:id="rId36"/>
    <p:sldId id="574" r:id="rId37"/>
    <p:sldId id="575" r:id="rId38"/>
    <p:sldId id="576" r:id="rId39"/>
    <p:sldId id="577" r:id="rId40"/>
    <p:sldId id="578" r:id="rId41"/>
    <p:sldId id="581" r:id="rId42"/>
    <p:sldId id="582" r:id="rId43"/>
    <p:sldId id="583" r:id="rId44"/>
    <p:sldId id="584" r:id="rId45"/>
    <p:sldId id="585" r:id="rId46"/>
    <p:sldId id="586" r:id="rId47"/>
    <p:sldId id="587" r:id="rId48"/>
    <p:sldId id="588" r:id="rId49"/>
    <p:sldId id="589" r:id="rId50"/>
    <p:sldId id="590" r:id="rId51"/>
    <p:sldId id="591" r:id="rId52"/>
    <p:sldId id="592" r:id="rId53"/>
    <p:sldId id="593" r:id="rId54"/>
    <p:sldId id="594" r:id="rId55"/>
    <p:sldId id="595" r:id="rId56"/>
    <p:sldId id="843" r:id="rId57"/>
    <p:sldId id="837" r:id="rId58"/>
    <p:sldId id="844" r:id="rId59"/>
    <p:sldId id="845" r:id="rId60"/>
    <p:sldId id="846" r:id="rId61"/>
    <p:sldId id="847" r:id="rId62"/>
    <p:sldId id="849" r:id="rId63"/>
    <p:sldId id="850" r:id="rId64"/>
    <p:sldId id="851" r:id="rId65"/>
    <p:sldId id="854" r:id="rId66"/>
    <p:sldId id="853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B6CB1-E68F-4D73-823E-A8BC1F68833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A96D5-8203-4106-B728-4283ED3E3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61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673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99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2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0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55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9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0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16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2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6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7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07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wrap="square" lIns="121897" tIns="121897" rIns="121897" bIns="121897" anchor="ctr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wrap="square" lIns="121897" tIns="121897" rIns="121897" bIns="121897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4681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B0083-C4EF-472F-8005-37042E889C08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8AF0B-5B29-4F23-9709-C2E147FD5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5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hin.uddin@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9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0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919" y="1122218"/>
            <a:ext cx="9888680" cy="1350818"/>
          </a:xfrm>
        </p:spPr>
        <p:txBody>
          <a:bodyPr>
            <a:noAutofit/>
          </a:bodyPr>
          <a:lstStyle/>
          <a:p>
            <a:br>
              <a:rPr lang="en-US" sz="4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</a:br>
            <a:br>
              <a:rPr lang="en-US" sz="4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ICT 2103 </a:t>
            </a:r>
            <a:r>
              <a:rPr kumimoji="1" lang="en-US" altLang="zh-TW" sz="4800" i="0" u="none" dirty="0">
                <a:solidFill>
                  <a:schemeClr val="tx1"/>
                </a:solidFill>
                <a:latin typeface="Book Antiqua" panose="02040602050305030304" pitchFamily="18" charset="0"/>
              </a:rPr>
              <a:t>Digital </a:t>
            </a:r>
            <a:r>
              <a:rPr kumimoji="1" lang="tr-TR" altLang="zh-TW" sz="4800" i="0" u="none" dirty="0">
                <a:solidFill>
                  <a:schemeClr val="tx1"/>
                </a:solidFill>
                <a:latin typeface="Book Antiqua" panose="02040602050305030304" pitchFamily="18" charset="0"/>
              </a:rPr>
              <a:t>Logic</a:t>
            </a:r>
            <a:r>
              <a:rPr kumimoji="1" lang="en-US" altLang="zh-TW" sz="4800" i="0" u="none" dirty="0">
                <a:solidFill>
                  <a:schemeClr val="tx1"/>
                </a:solidFill>
                <a:latin typeface="Book Antiqua" panose="02040602050305030304" pitchFamily="18" charset="0"/>
              </a:rPr>
              <a:t> Design 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919" y="2473036"/>
            <a:ext cx="10048009" cy="4634346"/>
          </a:xfrm>
        </p:spPr>
        <p:txBody>
          <a:bodyPr>
            <a:normAutofit/>
          </a:bodyPr>
          <a:lstStyle/>
          <a:p>
            <a:endParaRPr lang="en-US" sz="3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Prof. Dr. Muhammad </a:t>
            </a:r>
            <a:r>
              <a:rPr lang="en-US" sz="3600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Shahin</a:t>
            </a:r>
            <a:r>
              <a:rPr lang="en-US" sz="3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Uddin</a:t>
            </a:r>
          </a:p>
          <a:p>
            <a:r>
              <a:rPr lang="en-US" sz="3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Email</a:t>
            </a:r>
            <a:r>
              <a:rPr lang="en-US" sz="36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: </a:t>
            </a:r>
            <a:r>
              <a:rPr lang="en-US" sz="36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  <a:hlinkClick r:id="rId2"/>
              </a:rPr>
              <a:t>shahin.uddin@</a:t>
            </a:r>
            <a:r>
              <a:rPr lang="en-US" sz="36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mbstu.ac.bd</a:t>
            </a:r>
            <a:endParaRPr lang="en-US" sz="3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377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49" y="1314064"/>
            <a:ext cx="9256767" cy="2899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1914" y="486203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Canonical and Standard Form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Maxterms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761999" y="4576289"/>
            <a:ext cx="99018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Boolean functions expressed as a sum of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or product of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maxterms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are said to be in canonical form. </a:t>
            </a:r>
          </a:p>
        </p:txBody>
      </p:sp>
    </p:spTree>
    <p:extLst>
      <p:ext uri="{BB962C8B-B14F-4D97-AF65-F5344CB8AC3E}">
        <p14:creationId xmlns:p14="http://schemas.microsoft.com/office/powerpoint/2010/main" val="177348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38858"/>
            <a:ext cx="10363200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1913" y="204397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Canonical and Standard Form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Maxterms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8212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1323975"/>
            <a:ext cx="6981825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1914" y="486203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Canonical and Standard Form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Maxterms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266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4" y="486203"/>
            <a:ext cx="111087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Sum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Minterms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9642" y="1271355"/>
            <a:ext cx="1084099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whose sum defines the Boolean function are those which give the 1’s of the function in a truth table.  </a:t>
            </a:r>
          </a:p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Function can be either 1 or 0 for each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since there are 2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Convenient to express a Boolean function in its sum‐of‐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form. </a:t>
            </a:r>
          </a:p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the function is not in this form, it can be made so by first expanding the expression into a sum of AND terms.</a:t>
            </a:r>
          </a:p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Each term is then inspected to see if it contains all the variables. </a:t>
            </a:r>
          </a:p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it misses one or more variables, it is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ANDed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with an expression such as x + x, where x is one of the missing variables. </a:t>
            </a:r>
          </a:p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next example clarifies this procedure.</a:t>
            </a:r>
          </a:p>
        </p:txBody>
      </p:sp>
    </p:spTree>
    <p:extLst>
      <p:ext uri="{BB962C8B-B14F-4D97-AF65-F5344CB8AC3E}">
        <p14:creationId xmlns:p14="http://schemas.microsoft.com/office/powerpoint/2010/main" val="12222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4" y="486203"/>
            <a:ext cx="111087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426" y="651077"/>
            <a:ext cx="7867302" cy="4773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28"/>
          <a:stretch/>
        </p:blipFill>
        <p:spPr bwMode="auto">
          <a:xfrm>
            <a:off x="2450112" y="5848479"/>
            <a:ext cx="7172325" cy="366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55057" y="5414606"/>
            <a:ext cx="9365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It is  sometimes convenient to express the function in the following brief notation. </a:t>
            </a:r>
          </a:p>
        </p:txBody>
      </p:sp>
    </p:spTree>
    <p:extLst>
      <p:ext uri="{BB962C8B-B14F-4D97-AF65-F5344CB8AC3E}">
        <p14:creationId xmlns:p14="http://schemas.microsoft.com/office/powerpoint/2010/main" val="2406029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4" y="486203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Alternative procedure for deriving the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712573" y="1221928"/>
            <a:ext cx="11125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Consider the Boolean function given in previous Example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 = A + B’C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The truth table can be derived directly from the algebraic expression by listing the eight binary combinations under variables A, B, and C and inserting 1’s under F for those combinations for which A = 1 and BC = 01.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From the truth table, we can then read the five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of the function to be 1, 4, 5, 6, and 7. 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593"/>
          <a:stretch/>
        </p:blipFill>
        <p:spPr bwMode="auto">
          <a:xfrm>
            <a:off x="4182633" y="3483680"/>
            <a:ext cx="2477659" cy="308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1471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4" y="486203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Alternative procedure for deriving the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712573" y="1221928"/>
            <a:ext cx="11125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Consider the Boolean function given in previous Example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 = A + B’C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The truth table can be derived directly from the algebraic expression by listing the eight binary combinations under variables A, B, and C and inserting 1’s under F for those combinations for which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= 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 = 01.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From the truth table, we can then read the five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of the function to be 1, 4, 5, 6, and 7. 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633" y="3483680"/>
            <a:ext cx="3120210" cy="308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251621" y="4374292"/>
            <a:ext cx="902043" cy="2347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10217" y="5202194"/>
            <a:ext cx="222422" cy="1099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8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4" y="486203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Alternative procedure for deriving the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712573" y="1221928"/>
            <a:ext cx="11125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Consider the Boolean function given in previous Example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 = A + B’C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The truth table can be derived directly from the algebraic expression by listing the eight binary combinations under variables A, B, and C and inserting 1’s under F for those combinations for which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= 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 = 01.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From the truth table, we can then read the five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of the function to be 1, 4, 5, 6, and 7. 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633" y="3483680"/>
            <a:ext cx="3120210" cy="308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251621" y="4374292"/>
            <a:ext cx="902043" cy="2347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10217" y="5202194"/>
            <a:ext cx="222422" cy="1099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726459" y="5325762"/>
            <a:ext cx="1952366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726459" y="5585254"/>
            <a:ext cx="1952366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766555" y="5906530"/>
            <a:ext cx="1952366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766555" y="6166022"/>
            <a:ext cx="1952366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153664" y="4466967"/>
            <a:ext cx="565257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064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3" y="337922"/>
            <a:ext cx="111087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Example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Maxterms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211" y="789562"/>
            <a:ext cx="8620126" cy="4730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211" y="5448300"/>
            <a:ext cx="837247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0508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3" y="313209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Conversion between Canonical Forms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16" y="1138711"/>
            <a:ext cx="9933142" cy="497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0795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8260" y="923613"/>
            <a:ext cx="1072566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now state a general conversion procedure: 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convert from one canonical form to another, interchange the symbols     and                           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and list those numbers missing from the original form. 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order to find the missing terms, one must realize that the total number of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maxterms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2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, where n is the number of binary variables in the function. 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Boolean function can be converted from an algebraic expression to a product of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maxterms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by means of a truth table and the canonical conversion procedure. 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Consider, for example, the Boolean expression    F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x’z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First, we derive the truth table of the function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1’s under F in the table are determined from the combination of the variables for which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11 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01. 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of the function are read from the truth table to be 1, 3, 6, and 7.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The function expressed as a sum of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082341" y="1399856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/>
                          <a:ea typeface="Cambria Math"/>
                        </a:rPr>
                        <m:t>Σ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341" y="1399856"/>
                <a:ext cx="415498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911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877397" y="1375413"/>
                <a:ext cx="444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/>
                          <a:ea typeface="Cambria Math"/>
                        </a:rPr>
                        <m:t>Π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397" y="1375413"/>
                <a:ext cx="44435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917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545" y="5790098"/>
            <a:ext cx="25241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435202" y="41360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Conversion between Canonical Forms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5247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1491" y="1210101"/>
            <a:ext cx="102725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Since there is a total of eight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maxterms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 a function of three variables, we determine the missing terms to be 0, 2, 4, and 5. The function expressed as a product of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maxterms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same answer as obtained in Previous Example.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41" y="2548929"/>
            <a:ext cx="28098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5202" y="41360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Conversion between Canonical Forms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1758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895" y="889686"/>
            <a:ext cx="7455544" cy="4497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5202" y="41360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Conversion between Canonical Forms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3626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2" y="105315"/>
            <a:ext cx="111087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Canonical Form: Sum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Minterms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263" y="902043"/>
            <a:ext cx="967534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F(X,Y,Z)  = X’Y’+Z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= X’Y’(Z+Z’)+Z(X+X’)(Y+Y’)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  = X’Y’Z+X’Y’Z’+(ZX+ZX’)(Y+Y’)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  = X’Y’Z’+X’Y’Z+X’YZ+XY’Z+XYZ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  = m0+m1+m3+m5+m7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  = ∑(m0+m1+m3+m5+m7)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  = ∑m(0,1,3.5,7)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Product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0,1,3.5.7</a:t>
            </a:r>
          </a:p>
        </p:txBody>
      </p:sp>
    </p:spTree>
    <p:extLst>
      <p:ext uri="{BB962C8B-B14F-4D97-AF65-F5344CB8AC3E}">
        <p14:creationId xmlns:p14="http://schemas.microsoft.com/office/powerpoint/2010/main" val="3120648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1912" y="105315"/>
            <a:ext cx="111087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Canonical Form: Product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Maxterms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263" y="902043"/>
            <a:ext cx="6388443" cy="4544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F(X,Y,Z)     =X’Y’+Z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=Z+X’Y’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= (Z+X’)(Z+Y’)                      Using Distributed law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=(X’+YY’+Z)(XX’+Y’+Z)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=(X’+Y+Z)(X’+Y’+Z) (X+Y’+Z)(X’+Y+Z)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=(X’+Y+Z)(X’+Y’+Z) (X+Y’+Z)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=M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=∏(M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	 =∏M (2,4,6)</a:t>
            </a:r>
          </a:p>
          <a:p>
            <a:pPr>
              <a:spcAft>
                <a:spcPts val="1200"/>
              </a:spcAf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Product of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Maxterm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2, 4, 6</a:t>
            </a:r>
          </a:p>
        </p:txBody>
      </p:sp>
    </p:spTree>
    <p:extLst>
      <p:ext uri="{BB962C8B-B14F-4D97-AF65-F5344CB8AC3E}">
        <p14:creationId xmlns:p14="http://schemas.microsoft.com/office/powerpoint/2010/main" val="202454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5201" y="364525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Canonical Forms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02042" y="1408670"/>
                <a:ext cx="1052795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600"/>
                  </a:spcAft>
                  <a:buFont typeface="Wingdings" pitchFamily="2" charset="2"/>
                  <a:buChar char="q"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Example in slide 3 and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4   ∑m(0,1,3.5,7) =∏M (2,4,6)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In general ∑m({x}) =∏M ({y})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∪</m:t>
                    </m:r>
                    <m:r>
                      <a:rPr lang="en-US" sz="24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  <a:cs typeface="Times New Roman" pitchFamily="18" charset="0"/>
                          </a:rPr>
                          <m:t>0,1,2, …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/>
                                <a:cs typeface="Times New Roman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b="0" i="0" smtClean="0">
                        <a:latin typeface="Cambria Math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cs typeface="Times New Roman" pitchFamily="18" charset="0"/>
                      </a:rPr>
                      <m:t>and</m:t>
                    </m:r>
                    <m:r>
                      <a:rPr lang="en-US" sz="2400" b="0" i="0" smtClean="0"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endParaRPr lang="en-US" sz="2400" b="0" i="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∩</m:t>
                    </m:r>
                    <m:r>
                      <a:rPr lang="en-US" sz="24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⊘</m:t>
                        </m:r>
                      </m:e>
                    </m:d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 function expressed as a sum of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minterms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can also be expressed as the product  of the opposite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maxterms</a:t>
                </a: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42" y="1408670"/>
                <a:ext cx="10527958" cy="2616101"/>
              </a:xfrm>
              <a:prstGeom prst="rect">
                <a:avLst/>
              </a:prstGeom>
              <a:blipFill rotWithShape="1">
                <a:blip r:embed="rId2"/>
                <a:stretch>
                  <a:fillRect l="-926" t="-1865" b="-4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783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5201" y="364525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Canonical Forms: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Maxterms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02041" y="1194587"/>
                <a:ext cx="10194327" cy="5074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600"/>
                  </a:spcAft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 sum of </a:t>
                </a: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minterms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equals the inverse of the product of the same </a:t>
                </a: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maxterms</a:t>
                </a: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/>
                              <a:cs typeface="Times New Roman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accPr>
                            <m:e>
                              <m:nary>
                                <m:naryPr>
                                  <m:chr m:val="∏"/>
                                  <m:subHide m:val="on"/>
                                  <m:supHide m:val="on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𝑀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(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/>
                                          <a:cs typeface="Times New Roman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  <a:cs typeface="Times New Roman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acc>
                        </m:e>
                      </m:nary>
                    </m:oMath>
                  </m:oMathPara>
                </a14:m>
                <a:endParaRPr lang="en-US" sz="20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Proof: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  <a:cs typeface="Times New Roman" pitchFamily="18" charset="0"/>
                            </a:rPr>
                          </m:ctrlPr>
                        </m:accPr>
                        <m:e>
                          <m:nary>
                            <m:naryPr>
                              <m:chr m:val="∏"/>
                              <m:subHide m:val="on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𝑀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(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acc>
                      <m:r>
                        <a:rPr lang="en-US" sz="20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/>
                              <a:cs typeface="Times New Roman" pitchFamily="18" charset="0"/>
                            </a:rPr>
                          </m:ctrlPr>
                        </m:acc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  <a:cs typeface="Times New Roman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  <a:cs typeface="Times New Roman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……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  <a:cs typeface="Times New Roman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  <a:cs typeface="Times New Roman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		</a:t>
                </a:r>
                <a:r>
                  <a:rPr lang="en-US" sz="2000" dirty="0">
                    <a:ea typeface="Cambria Math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𝑀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acc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𝑀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acc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+…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𝑀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  <a:ea typeface="Cambria Math"/>
                          <a:cs typeface="Times New Roman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  <a:cs typeface="Times New Roman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41" y="1194587"/>
                <a:ext cx="10194327" cy="5074018"/>
              </a:xfrm>
              <a:prstGeom prst="rect">
                <a:avLst/>
              </a:prstGeom>
              <a:blipFill rotWithShape="1">
                <a:blip r:embed="rId2"/>
                <a:stretch>
                  <a:fillRect l="-778" t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935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6449" y="364525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Canonical/Standard 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1507" y="1033671"/>
            <a:ext cx="1068241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two types of standard forms:</a:t>
            </a:r>
          </a:p>
          <a:p>
            <a:pPr marL="800100" lvl="1" indent="-342900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 of products (SOP) and </a:t>
            </a:r>
          </a:p>
          <a:p>
            <a:pPr marL="800100" lvl="1" indent="-342900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Products of sums (POS).</a:t>
            </a:r>
          </a:p>
        </p:txBody>
      </p:sp>
    </p:spTree>
    <p:extLst>
      <p:ext uri="{BB962C8B-B14F-4D97-AF65-F5344CB8AC3E}">
        <p14:creationId xmlns:p14="http://schemas.microsoft.com/office/powerpoint/2010/main" val="3183883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5200" y="107414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Sum of Product (SOP)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30297" y="2004866"/>
            <a:ext cx="1334530" cy="70433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SOP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5086" y="2004867"/>
            <a:ext cx="1334530" cy="70433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POS form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5597562" y="1668146"/>
            <a:ext cx="21747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361935" y="1303621"/>
            <a:ext cx="2489887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759995" y="1640342"/>
            <a:ext cx="0" cy="36452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597562" y="1640341"/>
            <a:ext cx="0" cy="36452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17619" y="2206171"/>
            <a:ext cx="201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Directly written from Truth Table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6820882" y="1275816"/>
            <a:ext cx="0" cy="36452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115697" y="3095388"/>
            <a:ext cx="4942653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Canonical/ Standard form 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F=x’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’+xy’z’+xy’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z+xyz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’+xyz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= x’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’+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’[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z’+z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]+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z’+z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=x’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’+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’+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=x’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’+x[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y’+y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= x’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’+x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x+yz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    [Distributed law  A+A’B=A+B)]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560346" y="2709202"/>
            <a:ext cx="0" cy="36452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915327" y="2798806"/>
            <a:ext cx="0" cy="77526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886000" y="753745"/>
            <a:ext cx="3475935" cy="3781168"/>
            <a:chOff x="886000" y="1532236"/>
            <a:chExt cx="3475935" cy="3781168"/>
          </a:xfrm>
        </p:grpSpPr>
        <p:pic>
          <p:nvPicPr>
            <p:cNvPr id="3789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541"/>
            <a:stretch/>
          </p:blipFill>
          <p:spPr bwMode="auto">
            <a:xfrm>
              <a:off x="886000" y="1532236"/>
              <a:ext cx="3475935" cy="3781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4139514" y="2601095"/>
              <a:ext cx="222421" cy="3755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39514" y="2924260"/>
              <a:ext cx="222421" cy="3755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139514" y="3280715"/>
              <a:ext cx="222421" cy="3755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39514" y="4007933"/>
              <a:ext cx="222421" cy="3755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127157" y="3670657"/>
              <a:ext cx="222421" cy="3755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cxnSp>
        <p:nvCxnSpPr>
          <p:cNvPr id="30" name="Straight Arrow Connector 29"/>
          <p:cNvCxnSpPr/>
          <p:nvPr/>
        </p:nvCxnSpPr>
        <p:spPr>
          <a:xfrm flipH="1">
            <a:off x="4349578" y="6000808"/>
            <a:ext cx="1007002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375189" y="5820031"/>
            <a:ext cx="1186249" cy="43248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79895" y="5816142"/>
            <a:ext cx="2088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Minimal SOP form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88291" y="5820031"/>
            <a:ext cx="2310713" cy="3654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915327" y="3095388"/>
            <a:ext cx="3276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minterm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is having all the variable or  complemented 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01" y="5066064"/>
            <a:ext cx="4495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minterm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does not have all the variables in  normal or  complemented 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52766" y="3095389"/>
            <a:ext cx="3398110" cy="4697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6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15"/>
          <a:stretch/>
        </p:blipFill>
        <p:spPr bwMode="auto">
          <a:xfrm>
            <a:off x="435201" y="1278894"/>
            <a:ext cx="5147476" cy="29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435201" y="364525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Standard Forms: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Two‐level implementation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35"/>
          <a:stretch/>
        </p:blipFill>
        <p:spPr bwMode="auto">
          <a:xfrm>
            <a:off x="5695179" y="1329692"/>
            <a:ext cx="5549469" cy="328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30195" y="4769708"/>
            <a:ext cx="312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y’+x’</a:t>
            </a:r>
            <a:r>
              <a:rPr lang="en-US" dirty="0" err="1"/>
              <a:t>yz</a:t>
            </a:r>
            <a:r>
              <a:rPr lang="en-US" dirty="0"/>
              <a:t>’+</a:t>
            </a:r>
            <a:r>
              <a:rPr lang="en-US" dirty="0" err="1"/>
              <a:t>xy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804086" y="1278894"/>
            <a:ext cx="24714" cy="2675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595816" y="1275790"/>
            <a:ext cx="24714" cy="2675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9378779" y="1010856"/>
            <a:ext cx="24714" cy="2675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7006280" y="1603229"/>
            <a:ext cx="24714" cy="2675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378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9047" y="1129252"/>
            <a:ext cx="10713308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Boolean function may be expressed in a nonstandard form </a:t>
            </a:r>
          </a:p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Example: 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AB + C(D + E) </a:t>
            </a:r>
          </a:p>
          <a:p>
            <a:pPr marL="1714500" lvl="3" indent="-34290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Neither in sum‐of‐products nor in product‐of‐sums form.</a:t>
            </a:r>
          </a:p>
          <a:p>
            <a:pPr marL="1714500" lvl="3" indent="-342900" algn="just">
              <a:spcAft>
                <a:spcPts val="600"/>
              </a:spcAft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spcAft>
                <a:spcPts val="60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spcAft>
                <a:spcPts val="60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spcAft>
                <a:spcPts val="60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spcAft>
                <a:spcPts val="60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spcAft>
                <a:spcPts val="60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spcAft>
                <a:spcPts val="60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257300" lvl="2" indent="-34290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Two-level produces the least amount of delay through the gates when the signal propagates from the inputs to the output. </a:t>
            </a:r>
          </a:p>
          <a:p>
            <a:pPr marL="342900" indent="-342900" algn="just"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1340" y="386840"/>
            <a:ext cx="11108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Standard Forms: Conversion from other form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0" t="13086" r="49091"/>
          <a:stretch/>
        </p:blipFill>
        <p:spPr bwMode="auto">
          <a:xfrm>
            <a:off x="976184" y="2567467"/>
            <a:ext cx="4164228" cy="2671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78" t="11157" r="3066"/>
          <a:stretch/>
        </p:blipFill>
        <p:spPr bwMode="auto">
          <a:xfrm>
            <a:off x="6672649" y="2607276"/>
            <a:ext cx="3966519" cy="263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ight Arrow 1"/>
          <p:cNvSpPr/>
          <p:nvPr/>
        </p:nvSpPr>
        <p:spPr>
          <a:xfrm>
            <a:off x="5474041" y="3491134"/>
            <a:ext cx="877330" cy="3789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140412" y="2902469"/>
            <a:ext cx="1495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3-&gt; 2 level 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779373" y="2360141"/>
            <a:ext cx="24713" cy="2113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55211" y="2261286"/>
            <a:ext cx="238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 of Product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730844" y="2445952"/>
            <a:ext cx="24713" cy="2113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880023" y="2567467"/>
            <a:ext cx="24713" cy="2113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661190" y="2567466"/>
            <a:ext cx="24713" cy="2113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78" t="11157" r="3066"/>
          <a:stretch/>
        </p:blipFill>
        <p:spPr bwMode="auto">
          <a:xfrm>
            <a:off x="6722078" y="2662552"/>
            <a:ext cx="3966519" cy="263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Straight Arrow Connector 16"/>
          <p:cNvCxnSpPr/>
          <p:nvPr/>
        </p:nvCxnSpPr>
        <p:spPr>
          <a:xfrm>
            <a:off x="7710619" y="2622742"/>
            <a:ext cx="24713" cy="2113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403495" y="2709925"/>
            <a:ext cx="24713" cy="2113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293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28600" y="5867400"/>
            <a:ext cx="2819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>
          <a:xfrm>
            <a:off x="667265" y="374822"/>
            <a:ext cx="11084011" cy="5715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Times New Roman" pitchFamily="18" charset="0"/>
                <a:ea typeface="+mn-ea"/>
                <a:cs typeface="Times New Roman" pitchFamily="18" charset="0"/>
              </a:rPr>
              <a:t>Constructing Gates</a:t>
            </a: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457197" y="1256270"/>
            <a:ext cx="10948087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device that acts either as a wire that conducts electricity or as a resistor that blocks the flow of electricity, depending on the voltage level of an input signal 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transistor has no moving parts, yet acts like a switch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made of a semiconductor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material, which is neither a particularly good conductor of electricity nor a particularly good insulator</a:t>
            </a:r>
          </a:p>
        </p:txBody>
      </p:sp>
    </p:spTree>
    <p:extLst>
      <p:ext uri="{BB962C8B-B14F-4D97-AF65-F5344CB8AC3E}">
        <p14:creationId xmlns:p14="http://schemas.microsoft.com/office/powerpoint/2010/main" val="134363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 idx="4294967295"/>
          </p:nvPr>
        </p:nvSpPr>
        <p:spPr>
          <a:xfrm>
            <a:off x="679621" y="510746"/>
            <a:ext cx="11219935" cy="712788"/>
          </a:xfrm>
        </p:spPr>
        <p:txBody>
          <a:bodyPr lIns="0" tIns="0" rIns="0" bIns="0">
            <a:normAutofit/>
          </a:bodyPr>
          <a:lstStyle/>
          <a:p>
            <a:pPr eaLnBrk="1" hangingPunct="1"/>
            <a:r>
              <a:rPr lang="en-US" altLang="zh-TW" sz="3600" b="1" dirty="0">
                <a:latin typeface="Times New Roman" pitchFamily="18" charset="0"/>
                <a:ea typeface="+mn-ea"/>
                <a:cs typeface="Times New Roman" pitchFamily="18" charset="0"/>
              </a:rPr>
              <a:t>How is the behavior implemented</a:t>
            </a:r>
            <a:endParaRPr lang="zh-TW" altLang="en-US" sz="36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內容版面配置區 2"/>
          <p:cNvSpPr>
            <a:spLocks noGrp="1"/>
          </p:cNvSpPr>
          <p:nvPr>
            <p:ph idx="4294967295"/>
          </p:nvPr>
        </p:nvSpPr>
        <p:spPr>
          <a:xfrm>
            <a:off x="552450" y="1333500"/>
            <a:ext cx="8570913" cy="5202238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endParaRPr lang="zh-TW" altLang="en-US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1200" dirty="0">
              <a:ea typeface="新細明體" pitchFamily="18" charset="-120"/>
            </a:endParaRPr>
          </a:p>
        </p:txBody>
      </p:sp>
      <p:pic>
        <p:nvPicPr>
          <p:cNvPr id="8" name="Picture 2" descr="2-input transistor and g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862" y="1600200"/>
            <a:ext cx="4884051" cy="462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09070" y="2568149"/>
            <a:ext cx="28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4311" y="2937481"/>
            <a:ext cx="28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27903" y="2174789"/>
            <a:ext cx="741405" cy="24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753762" y="3496962"/>
            <a:ext cx="741405" cy="24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8291384" y="3864271"/>
            <a:ext cx="741405" cy="24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167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28600" y="5867400"/>
            <a:ext cx="2819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>
          <a:xfrm>
            <a:off x="778475" y="432486"/>
            <a:ext cx="10812163" cy="568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Times New Roman" pitchFamily="18" charset="0"/>
                <a:ea typeface="+mn-ea"/>
                <a:cs typeface="Times New Roman" pitchFamily="18" charset="0"/>
              </a:rPr>
              <a:t>Circuits</a:t>
            </a: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778474" y="1295400"/>
            <a:ext cx="1040439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Circuit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values explicitly determine the output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Circuit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a function of the input values and the existing state of the circuit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164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852616" y="188913"/>
            <a:ext cx="8040559" cy="4746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>
                <a:latin typeface="Times New Roman" pitchFamily="18" charset="0"/>
                <a:ea typeface="+mn-ea"/>
                <a:cs typeface="Times New Roman" pitchFamily="18" charset="0"/>
              </a:rPr>
              <a:t>Combinational Circuits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176549" y="982661"/>
            <a:ext cx="7622360" cy="4859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function of input only</a:t>
            </a:r>
          </a:p>
          <a:p>
            <a:pPr marL="874713" lvl="1" indent="-342900"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no feedback</a:t>
            </a:r>
          </a:p>
          <a:p>
            <a:pPr marL="808038" lvl="1" indent="-276225">
              <a:buFont typeface="Times New Roman" panose="02020603050405020304" pitchFamily="18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276225">
              <a:buFont typeface="Times New Roman" panose="02020603050405020304" pitchFamily="18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276225">
              <a:buFont typeface="Times New Roman" panose="02020603050405020304" pitchFamily="18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276225">
              <a:buFont typeface="Times New Roman" panose="02020603050405020304" pitchFamily="18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276225">
              <a:buFont typeface="Times New Roman" panose="02020603050405020304" pitchFamily="18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276225">
              <a:buFont typeface="Times New Roman" panose="02020603050405020304" pitchFamily="18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276225">
              <a:buFont typeface="Times New Roman" panose="02020603050405020304" pitchFamily="18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276225">
              <a:buFont typeface="Times New Roman" panose="02020603050405020304" pitchFamily="18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276225">
              <a:buFont typeface="Times New Roman" panose="02020603050405020304" pitchFamily="18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276225">
              <a:buFont typeface="Times New Roman" panose="02020603050405020304" pitchFamily="18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changes,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change (after a delay)</a:t>
            </a:r>
          </a:p>
        </p:txBody>
      </p:sp>
      <p:sp>
        <p:nvSpPr>
          <p:cNvPr id="8" name="AutoShape 75"/>
          <p:cNvSpPr>
            <a:spLocks noChangeArrowheads="1"/>
          </p:cNvSpPr>
          <p:nvPr/>
        </p:nvSpPr>
        <p:spPr bwMode="auto">
          <a:xfrm>
            <a:off x="3311525" y="2528888"/>
            <a:ext cx="2519363" cy="1800225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/>
          </a:p>
        </p:txBody>
      </p:sp>
      <p:sp>
        <p:nvSpPr>
          <p:cNvPr id="9" name="Line 76"/>
          <p:cNvSpPr>
            <a:spLocks noChangeShapeType="1"/>
          </p:cNvSpPr>
          <p:nvPr/>
        </p:nvSpPr>
        <p:spPr bwMode="auto">
          <a:xfrm>
            <a:off x="2411413" y="2889250"/>
            <a:ext cx="90011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" name="Line 77"/>
          <p:cNvSpPr>
            <a:spLocks noChangeShapeType="1"/>
          </p:cNvSpPr>
          <p:nvPr/>
        </p:nvSpPr>
        <p:spPr bwMode="auto">
          <a:xfrm>
            <a:off x="2411413" y="3968750"/>
            <a:ext cx="90011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" name="Line 78"/>
          <p:cNvSpPr>
            <a:spLocks noChangeShapeType="1"/>
          </p:cNvSpPr>
          <p:nvPr/>
        </p:nvSpPr>
        <p:spPr bwMode="auto">
          <a:xfrm>
            <a:off x="2411413" y="3248025"/>
            <a:ext cx="90011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2" name="Text Box 79"/>
          <p:cNvSpPr txBox="1">
            <a:spLocks noChangeArrowheads="1"/>
          </p:cNvSpPr>
          <p:nvPr/>
        </p:nvSpPr>
        <p:spPr bwMode="auto">
          <a:xfrm>
            <a:off x="2771775" y="3429000"/>
            <a:ext cx="180975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50000"/>
              </a:lnSpc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•</a:t>
            </a:r>
          </a:p>
          <a:p>
            <a:pPr>
              <a:lnSpc>
                <a:spcPct val="50000"/>
              </a:lnSpc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•</a:t>
            </a:r>
          </a:p>
          <a:p>
            <a:pPr>
              <a:lnSpc>
                <a:spcPct val="50000"/>
              </a:lnSpc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•</a:t>
            </a:r>
          </a:p>
        </p:txBody>
      </p:sp>
      <p:sp>
        <p:nvSpPr>
          <p:cNvPr id="13" name="Line 80"/>
          <p:cNvSpPr>
            <a:spLocks noChangeShapeType="1"/>
          </p:cNvSpPr>
          <p:nvPr/>
        </p:nvSpPr>
        <p:spPr bwMode="auto">
          <a:xfrm>
            <a:off x="5830888" y="2889250"/>
            <a:ext cx="90011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4" name="Line 81"/>
          <p:cNvSpPr>
            <a:spLocks noChangeShapeType="1"/>
          </p:cNvSpPr>
          <p:nvPr/>
        </p:nvSpPr>
        <p:spPr bwMode="auto">
          <a:xfrm>
            <a:off x="5830888" y="3968750"/>
            <a:ext cx="90011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5" name="Line 82"/>
          <p:cNvSpPr>
            <a:spLocks noChangeShapeType="1"/>
          </p:cNvSpPr>
          <p:nvPr/>
        </p:nvSpPr>
        <p:spPr bwMode="auto">
          <a:xfrm>
            <a:off x="5830888" y="3248025"/>
            <a:ext cx="90011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6" name="Text Box 83"/>
          <p:cNvSpPr txBox="1">
            <a:spLocks noChangeArrowheads="1"/>
          </p:cNvSpPr>
          <p:nvPr/>
        </p:nvSpPr>
        <p:spPr bwMode="auto">
          <a:xfrm>
            <a:off x="6191250" y="3429000"/>
            <a:ext cx="180975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50000"/>
              </a:lnSpc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•</a:t>
            </a:r>
          </a:p>
          <a:p>
            <a:pPr>
              <a:lnSpc>
                <a:spcPct val="50000"/>
              </a:lnSpc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•</a:t>
            </a:r>
          </a:p>
          <a:p>
            <a:pPr>
              <a:lnSpc>
                <a:spcPct val="50000"/>
              </a:lnSpc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•</a:t>
            </a:r>
          </a:p>
        </p:txBody>
      </p:sp>
      <p:sp>
        <p:nvSpPr>
          <p:cNvPr id="17" name="Text Box 84"/>
          <p:cNvSpPr txBox="1">
            <a:spLocks noChangeArrowheads="1"/>
          </p:cNvSpPr>
          <p:nvPr/>
        </p:nvSpPr>
        <p:spPr bwMode="auto">
          <a:xfrm>
            <a:off x="1465823" y="3248024"/>
            <a:ext cx="126047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inputs</a:t>
            </a:r>
          </a:p>
        </p:txBody>
      </p:sp>
      <p:sp>
        <p:nvSpPr>
          <p:cNvPr id="18" name="Text Box 85"/>
          <p:cNvSpPr txBox="1">
            <a:spLocks noChangeArrowheads="1"/>
          </p:cNvSpPr>
          <p:nvPr/>
        </p:nvSpPr>
        <p:spPr bwMode="auto">
          <a:xfrm>
            <a:off x="6911975" y="3248025"/>
            <a:ext cx="1439863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outputs</a:t>
            </a:r>
          </a:p>
        </p:txBody>
      </p:sp>
      <p:sp>
        <p:nvSpPr>
          <p:cNvPr id="19" name="Text Box 86"/>
          <p:cNvSpPr txBox="1">
            <a:spLocks noChangeArrowheads="1"/>
          </p:cNvSpPr>
          <p:nvPr/>
        </p:nvSpPr>
        <p:spPr bwMode="auto">
          <a:xfrm>
            <a:off x="3490913" y="3068638"/>
            <a:ext cx="2160587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150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</a:t>
            </a:r>
          </a:p>
          <a:p>
            <a:pPr>
              <a:spcBef>
                <a:spcPct val="150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</a:p>
        </p:txBody>
      </p:sp>
      <p:sp>
        <p:nvSpPr>
          <p:cNvPr id="20" name="Line 87"/>
          <p:cNvSpPr>
            <a:spLocks noChangeShapeType="1"/>
          </p:cNvSpPr>
          <p:nvPr/>
        </p:nvSpPr>
        <p:spPr bwMode="auto">
          <a:xfrm>
            <a:off x="6192838" y="3968750"/>
            <a:ext cx="0" cy="900113"/>
          </a:xfrm>
          <a:prstGeom prst="line">
            <a:avLst/>
          </a:prstGeom>
          <a:noFill/>
          <a:ln w="38100">
            <a:solidFill>
              <a:srgbClr val="99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21" name="Line 88"/>
          <p:cNvSpPr>
            <a:spLocks noChangeShapeType="1"/>
          </p:cNvSpPr>
          <p:nvPr/>
        </p:nvSpPr>
        <p:spPr bwMode="auto">
          <a:xfrm flipH="1" flipV="1">
            <a:off x="2411413" y="4868863"/>
            <a:ext cx="3781425" cy="1587"/>
          </a:xfrm>
          <a:prstGeom prst="line">
            <a:avLst/>
          </a:prstGeom>
          <a:noFill/>
          <a:ln w="38100">
            <a:solidFill>
              <a:srgbClr val="99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22" name="Line 89"/>
          <p:cNvSpPr>
            <a:spLocks noChangeShapeType="1"/>
          </p:cNvSpPr>
          <p:nvPr/>
        </p:nvSpPr>
        <p:spPr bwMode="auto">
          <a:xfrm flipV="1">
            <a:off x="2411413" y="3968750"/>
            <a:ext cx="0" cy="901700"/>
          </a:xfrm>
          <a:prstGeom prst="line">
            <a:avLst/>
          </a:prstGeom>
          <a:noFill/>
          <a:ln w="38100">
            <a:solidFill>
              <a:srgbClr val="99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23" name="Text Box 90"/>
          <p:cNvSpPr txBox="1">
            <a:spLocks noChangeArrowheads="1"/>
          </p:cNvSpPr>
          <p:nvPr/>
        </p:nvSpPr>
        <p:spPr bwMode="auto">
          <a:xfrm>
            <a:off x="4108450" y="4381500"/>
            <a:ext cx="900113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7200" b="1">
                <a:sym typeface="Wingdings" panose="05000000000000000000" pitchFamily="2" charset="2"/>
              </a:rPr>
              <a:t></a:t>
            </a:r>
          </a:p>
        </p:txBody>
      </p:sp>
    </p:spTree>
    <p:extLst>
      <p:ext uri="{BB962C8B-B14F-4D97-AF65-F5344CB8AC3E}">
        <p14:creationId xmlns:p14="http://schemas.microsoft.com/office/powerpoint/2010/main" val="350092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3" presetClass="emph" presetSubtype="6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/>
      <p:bldP spid="2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852616" y="188913"/>
            <a:ext cx="8040559" cy="4746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>
                <a:latin typeface="Times New Roman" pitchFamily="18" charset="0"/>
                <a:ea typeface="+mn-ea"/>
                <a:cs typeface="Times New Roman" pitchFamily="18" charset="0"/>
              </a:rPr>
              <a:t>Combinational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4529" y="815546"/>
            <a:ext cx="6549081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Adder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Subtractor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Decoder 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MUX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DeMUX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Code Converters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Comparator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ROM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PLA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PAL</a:t>
            </a:r>
          </a:p>
        </p:txBody>
      </p:sp>
    </p:spTree>
    <p:extLst>
      <p:ext uri="{BB962C8B-B14F-4D97-AF65-F5344CB8AC3E}">
        <p14:creationId xmlns:p14="http://schemas.microsoft.com/office/powerpoint/2010/main" val="3261431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28600" y="5867400"/>
            <a:ext cx="2819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>
          <a:xfrm>
            <a:off x="1124465" y="723900"/>
            <a:ext cx="10354962" cy="5715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Times New Roman" pitchFamily="18" charset="0"/>
                <a:ea typeface="+mn-ea"/>
                <a:cs typeface="Times New Roman" pitchFamily="18" charset="0"/>
              </a:rPr>
              <a:t>Combinational Circuits</a:t>
            </a: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1334530" y="1676400"/>
            <a:ext cx="100584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are combined into circuits by using the output of one gate as the input for another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600200" y="640080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400">
              <a:latin typeface="Arial" panose="020B0604020202020204" pitchFamily="34" charset="0"/>
            </a:endParaRPr>
          </a:p>
        </p:txBody>
      </p:sp>
      <p:pic>
        <p:nvPicPr>
          <p:cNvPr id="8" name="Picture 10" descr="17606_02_0046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334" y="2914237"/>
            <a:ext cx="5144429" cy="286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514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28600" y="5867400"/>
            <a:ext cx="2819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>
          <a:xfrm>
            <a:off x="691977" y="605480"/>
            <a:ext cx="10626811" cy="6899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Times New Roman" pitchFamily="18" charset="0"/>
                <a:ea typeface="+mn-ea"/>
                <a:cs typeface="Times New Roman" pitchFamily="18" charset="0"/>
              </a:rPr>
              <a:t>Combinational Circuits</a:t>
            </a: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827902" y="1676400"/>
            <a:ext cx="7858897" cy="121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Boolean expression A(B + C)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17" descr="17606_02_0049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562" y="2689654"/>
            <a:ext cx="39624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17606_02_0048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913" y="2714539"/>
            <a:ext cx="289560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901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Circuits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1800" y="1089025"/>
            <a:ext cx="8280400" cy="5138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circuit, find out its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may be expressed as: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function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desired function, determine its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may be expressed as: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function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</p:txBody>
      </p:sp>
      <p:grpSp>
        <p:nvGrpSpPr>
          <p:cNvPr id="8" name="Group 17"/>
          <p:cNvGrpSpPr>
            <a:grpSpLocks/>
          </p:cNvGrpSpPr>
          <p:nvPr/>
        </p:nvGrpSpPr>
        <p:grpSpPr bwMode="auto">
          <a:xfrm>
            <a:off x="6955706" y="1443365"/>
            <a:ext cx="2176462" cy="1079500"/>
            <a:chOff x="4183" y="1026"/>
            <a:chExt cx="1371" cy="680"/>
          </a:xfrm>
        </p:grpSpPr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4354" y="1026"/>
              <a:ext cx="907" cy="680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graphicFrame>
          <p:nvGraphicFramePr>
            <p:cNvPr id="10" name="Object 6"/>
            <p:cNvGraphicFramePr>
              <a:graphicFrameLocks noChangeAspect="1"/>
            </p:cNvGraphicFramePr>
            <p:nvPr/>
          </p:nvGraphicFramePr>
          <p:xfrm>
            <a:off x="4385" y="1103"/>
            <a:ext cx="86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8" name="Visio" r:id="rId3" imgW="3039709" imgH="1725900" progId="Visio.Drawing.11">
                    <p:embed/>
                  </p:oleObj>
                </mc:Choice>
                <mc:Fallback>
                  <p:oleObj name="Visio" r:id="rId3" imgW="3039709" imgH="1725900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5" y="1103"/>
                          <a:ext cx="862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4183" y="1480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4183" y="125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4183" y="1367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5261" y="117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5261" y="1494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5440" y="1099"/>
              <a:ext cx="114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b="1"/>
                <a:t>?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5440" y="1405"/>
              <a:ext cx="114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b="1"/>
                <a:t>?</a:t>
              </a:r>
            </a:p>
          </p:txBody>
        </p:sp>
      </p:grpSp>
      <p:grpSp>
        <p:nvGrpSpPr>
          <p:cNvPr id="18" name="Group 28"/>
          <p:cNvGrpSpPr>
            <a:grpSpLocks/>
          </p:cNvGrpSpPr>
          <p:nvPr/>
        </p:nvGrpSpPr>
        <p:grpSpPr bwMode="auto">
          <a:xfrm>
            <a:off x="6954044" y="3643530"/>
            <a:ext cx="1982787" cy="1079500"/>
            <a:chOff x="4183" y="3067"/>
            <a:chExt cx="1249" cy="680"/>
          </a:xfrm>
        </p:grpSpPr>
        <p:sp>
          <p:nvSpPr>
            <p:cNvPr id="19" name="AutoShape 19"/>
            <p:cNvSpPr>
              <a:spLocks noChangeArrowheads="1"/>
            </p:cNvSpPr>
            <p:nvPr/>
          </p:nvSpPr>
          <p:spPr bwMode="auto">
            <a:xfrm>
              <a:off x="4354" y="3067"/>
              <a:ext cx="907" cy="680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4183" y="3521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4183" y="3294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4183" y="3408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>
              <a:off x="5261" y="3220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5261" y="3535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>
              <a:off x="4694" y="3245"/>
              <a:ext cx="22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sz="32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032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Procedure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1188" y="1089025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Expression Approach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701431"/>
              </p:ext>
            </p:extLst>
          </p:nvPr>
        </p:nvGraphicFramePr>
        <p:xfrm>
          <a:off x="611188" y="1628775"/>
          <a:ext cx="7921625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name="Visio" r:id="rId3" imgW="3039709" imgH="1725900" progId="Visio.Drawing.11">
                  <p:embed/>
                </p:oleObj>
              </mc:Choice>
              <mc:Fallback>
                <p:oleObj name="Visio" r:id="rId3" imgW="3039709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7921625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5"/>
          <p:cNvSpPr>
            <a:spLocks/>
          </p:cNvSpPr>
          <p:nvPr/>
        </p:nvSpPr>
        <p:spPr bwMode="auto">
          <a:xfrm>
            <a:off x="2411413" y="2349500"/>
            <a:ext cx="900112" cy="376238"/>
          </a:xfrm>
          <a:prstGeom prst="borderCallout1">
            <a:avLst>
              <a:gd name="adj1" fmla="val 30380"/>
              <a:gd name="adj2" fmla="val -8468"/>
              <a:gd name="adj3" fmla="val -54009"/>
              <a:gd name="adj4" fmla="val -37389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36000" rIns="0" bIns="3600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tr-TR" b="1" i="1">
                <a:solidFill>
                  <a:schemeClr val="accent1"/>
                </a:solidFill>
              </a:rPr>
              <a:t>T</a:t>
            </a:r>
            <a:r>
              <a:rPr lang="tr-TR" b="1" i="1" baseline="-25000">
                <a:solidFill>
                  <a:schemeClr val="accent1"/>
                </a:solidFill>
              </a:rPr>
              <a:t>2</a:t>
            </a:r>
            <a:r>
              <a:rPr lang="tr-TR" b="1" i="1">
                <a:solidFill>
                  <a:schemeClr val="accent1"/>
                </a:solidFill>
              </a:rPr>
              <a:t>=</a:t>
            </a:r>
            <a:r>
              <a:rPr lang="en-US" b="1" i="1">
                <a:solidFill>
                  <a:schemeClr val="accent1"/>
                </a:solidFill>
              </a:rPr>
              <a:t>ABC</a:t>
            </a:r>
          </a:p>
        </p:txBody>
      </p:sp>
      <p:sp>
        <p:nvSpPr>
          <p:cNvPr id="8" name="AutoShape 6"/>
          <p:cNvSpPr>
            <a:spLocks/>
          </p:cNvSpPr>
          <p:nvPr/>
        </p:nvSpPr>
        <p:spPr bwMode="auto">
          <a:xfrm>
            <a:off x="3671888" y="2627313"/>
            <a:ext cx="1331912" cy="376237"/>
          </a:xfrm>
          <a:prstGeom prst="borderCallout1">
            <a:avLst>
              <a:gd name="adj1" fmla="val 30380"/>
              <a:gd name="adj2" fmla="val -5722"/>
              <a:gd name="adj3" fmla="val 141773"/>
              <a:gd name="adj4" fmla="val -21694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36000" rIns="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tr-TR" b="1" i="1">
                <a:solidFill>
                  <a:schemeClr val="accent1"/>
                </a:solidFill>
              </a:rPr>
              <a:t>T</a:t>
            </a:r>
            <a:r>
              <a:rPr lang="tr-TR" b="1" i="1" baseline="-25000">
                <a:solidFill>
                  <a:schemeClr val="accent1"/>
                </a:solidFill>
              </a:rPr>
              <a:t>1</a:t>
            </a:r>
            <a:r>
              <a:rPr lang="tr-TR" b="1" i="1">
                <a:solidFill>
                  <a:schemeClr val="accent1"/>
                </a:solidFill>
              </a:rPr>
              <a:t>=</a:t>
            </a:r>
            <a:r>
              <a:rPr lang="en-US" b="1" i="1">
                <a:solidFill>
                  <a:schemeClr val="accent1"/>
                </a:solidFill>
              </a:rPr>
              <a:t>A+B+C</a:t>
            </a:r>
          </a:p>
        </p:txBody>
      </p:sp>
      <p:sp>
        <p:nvSpPr>
          <p:cNvPr id="9" name="AutoShape 7"/>
          <p:cNvSpPr>
            <a:spLocks/>
          </p:cNvSpPr>
          <p:nvPr/>
        </p:nvSpPr>
        <p:spPr bwMode="auto">
          <a:xfrm>
            <a:off x="3671888" y="5260975"/>
            <a:ext cx="1800225" cy="376238"/>
          </a:xfrm>
          <a:prstGeom prst="borderCallout1">
            <a:avLst>
              <a:gd name="adj1" fmla="val 30380"/>
              <a:gd name="adj2" fmla="val -4231"/>
              <a:gd name="adj3" fmla="val -83546"/>
              <a:gd name="adj4" fmla="val -12083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36000" rIns="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tr-TR" b="1" i="1">
                <a:solidFill>
                  <a:schemeClr val="accent1"/>
                </a:solidFill>
              </a:rPr>
              <a:t>F</a:t>
            </a:r>
            <a:r>
              <a:rPr lang="tr-TR" b="1" i="1" baseline="-25000">
                <a:solidFill>
                  <a:schemeClr val="accent1"/>
                </a:solidFill>
              </a:rPr>
              <a:t>2</a:t>
            </a:r>
            <a:r>
              <a:rPr lang="tr-TR" b="1" i="1">
                <a:solidFill>
                  <a:schemeClr val="accent1"/>
                </a:solidFill>
              </a:rPr>
              <a:t>=</a:t>
            </a:r>
            <a:r>
              <a:rPr lang="en-US" b="1" i="1">
                <a:solidFill>
                  <a:schemeClr val="accent1"/>
                </a:solidFill>
              </a:rPr>
              <a:t>AB+AC+BC</a:t>
            </a:r>
          </a:p>
        </p:txBody>
      </p:sp>
      <p:sp>
        <p:nvSpPr>
          <p:cNvPr id="10" name="AutoShape 8"/>
          <p:cNvSpPr>
            <a:spLocks/>
          </p:cNvSpPr>
          <p:nvPr/>
        </p:nvSpPr>
        <p:spPr bwMode="auto">
          <a:xfrm>
            <a:off x="5111750" y="3968750"/>
            <a:ext cx="2736850" cy="376238"/>
          </a:xfrm>
          <a:prstGeom prst="borderCallout1">
            <a:avLst>
              <a:gd name="adj1" fmla="val 30380"/>
              <a:gd name="adj2" fmla="val -2782"/>
              <a:gd name="adj3" fmla="val -15611"/>
              <a:gd name="adj4" fmla="val -14269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36000" rIns="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tr-TR" b="1">
                <a:solidFill>
                  <a:schemeClr val="accent1"/>
                </a:solidFill>
              </a:rPr>
              <a:t>F’</a:t>
            </a:r>
            <a:r>
              <a:rPr lang="tr-TR" b="1" baseline="-25000">
                <a:solidFill>
                  <a:schemeClr val="accent1"/>
                </a:solidFill>
              </a:rPr>
              <a:t>2</a:t>
            </a:r>
            <a:r>
              <a:rPr lang="tr-TR" b="1">
                <a:solidFill>
                  <a:schemeClr val="accent1"/>
                </a:solidFill>
              </a:rPr>
              <a:t>=</a:t>
            </a:r>
            <a:r>
              <a:rPr lang="en-US" b="1">
                <a:solidFill>
                  <a:schemeClr val="accent1"/>
                </a:solidFill>
              </a:rPr>
              <a:t>(</a:t>
            </a:r>
            <a:r>
              <a:rPr lang="en-US" b="1" i="1">
                <a:solidFill>
                  <a:schemeClr val="accent1"/>
                </a:solidFill>
              </a:rPr>
              <a:t>A’+B’</a:t>
            </a:r>
            <a:r>
              <a:rPr lang="en-US" b="1">
                <a:solidFill>
                  <a:schemeClr val="accent1"/>
                </a:solidFill>
              </a:rPr>
              <a:t>)(</a:t>
            </a:r>
            <a:r>
              <a:rPr lang="en-US" b="1" i="1">
                <a:solidFill>
                  <a:schemeClr val="accent1"/>
                </a:solidFill>
              </a:rPr>
              <a:t>A’+C’</a:t>
            </a:r>
            <a:r>
              <a:rPr lang="en-US" b="1">
                <a:solidFill>
                  <a:schemeClr val="accent1"/>
                </a:solidFill>
              </a:rPr>
              <a:t>)(</a:t>
            </a:r>
            <a:r>
              <a:rPr lang="en-US" b="1" i="1">
                <a:solidFill>
                  <a:schemeClr val="accent1"/>
                </a:solidFill>
              </a:rPr>
              <a:t>B’+C’</a:t>
            </a:r>
            <a:r>
              <a:rPr lang="en-US" b="1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1" name="AutoShape 10"/>
          <p:cNvSpPr>
            <a:spLocks/>
          </p:cNvSpPr>
          <p:nvPr/>
        </p:nvSpPr>
        <p:spPr bwMode="auto">
          <a:xfrm>
            <a:off x="6551613" y="2889250"/>
            <a:ext cx="2592387" cy="376238"/>
          </a:xfrm>
          <a:prstGeom prst="borderCallout1">
            <a:avLst>
              <a:gd name="adj1" fmla="val 30380"/>
              <a:gd name="adj2" fmla="val -2940"/>
              <a:gd name="adj3" fmla="val 110972"/>
              <a:gd name="adj4" fmla="val -8940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36000" rIns="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tr-TR" b="1" i="1">
                <a:solidFill>
                  <a:schemeClr val="accent1"/>
                </a:solidFill>
              </a:rPr>
              <a:t>T</a:t>
            </a:r>
            <a:r>
              <a:rPr lang="tr-TR" b="1" i="1" baseline="-25000">
                <a:solidFill>
                  <a:schemeClr val="accent1"/>
                </a:solidFill>
              </a:rPr>
              <a:t>3</a:t>
            </a:r>
            <a:r>
              <a:rPr lang="tr-TR" b="1" i="1">
                <a:solidFill>
                  <a:schemeClr val="accent1"/>
                </a:solidFill>
              </a:rPr>
              <a:t>=</a:t>
            </a:r>
            <a:r>
              <a:rPr lang="en-US" b="1" i="1">
                <a:solidFill>
                  <a:schemeClr val="accent1"/>
                </a:solidFill>
              </a:rPr>
              <a:t>AB'C'+A'BC'+A'B'C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671888" y="5943343"/>
            <a:ext cx="504031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AB'C'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A'BC'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A'B'C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</a:p>
        </p:txBody>
      </p:sp>
    </p:spTree>
    <p:extLst>
      <p:ext uri="{BB962C8B-B14F-4D97-AF65-F5344CB8AC3E}">
        <p14:creationId xmlns:p14="http://schemas.microsoft.com/office/powerpoint/2010/main" val="79008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161301"/>
              </p:ext>
            </p:extLst>
          </p:nvPr>
        </p:nvGraphicFramePr>
        <p:xfrm>
          <a:off x="611188" y="1628775"/>
          <a:ext cx="558165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6" name="Visio" r:id="rId3" imgW="3237708" imgH="1725900" progId="Visio.Drawing.11">
                  <p:embed/>
                </p:oleObj>
              </mc:Choice>
              <mc:Fallback>
                <p:oleObj name="Visio" r:id="rId3" imgW="3237708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558165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Procedure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11188" y="1089025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 Approach</a:t>
            </a:r>
          </a:p>
        </p:txBody>
      </p:sp>
      <p:graphicFrame>
        <p:nvGraphicFramePr>
          <p:cNvPr id="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722710"/>
              </p:ext>
            </p:extLst>
          </p:nvPr>
        </p:nvGraphicFramePr>
        <p:xfrm>
          <a:off x="6551613" y="1268413"/>
          <a:ext cx="2160587" cy="2700333"/>
        </p:xfrm>
        <a:graphic>
          <a:graphicData uri="http://schemas.openxmlformats.org/drawingml/2006/table">
            <a:tbl>
              <a:tblPr/>
              <a:tblGrid>
                <a:gridCol w="961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Box 80"/>
          <p:cNvSpPr txBox="1">
            <a:spLocks noChangeArrowheads="1"/>
          </p:cNvSpPr>
          <p:nvPr/>
        </p:nvSpPr>
        <p:spPr bwMode="auto">
          <a:xfrm>
            <a:off x="790575" y="1704975"/>
            <a:ext cx="3603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 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5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80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6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9" name="Text Box 82"/>
          <p:cNvSpPr txBox="1">
            <a:spLocks noChangeArrowheads="1"/>
          </p:cNvSpPr>
          <p:nvPr/>
        </p:nvSpPr>
        <p:spPr bwMode="auto">
          <a:xfrm>
            <a:off x="1871663" y="1770063"/>
            <a:ext cx="179387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225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20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0" name="Text Box 83"/>
          <p:cNvSpPr txBox="1">
            <a:spLocks noChangeArrowheads="1"/>
          </p:cNvSpPr>
          <p:nvPr/>
        </p:nvSpPr>
        <p:spPr bwMode="auto">
          <a:xfrm>
            <a:off x="2771775" y="36083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1" name="Text Box 84"/>
          <p:cNvSpPr txBox="1">
            <a:spLocks noChangeArrowheads="1"/>
          </p:cNvSpPr>
          <p:nvPr/>
        </p:nvSpPr>
        <p:spPr bwMode="auto">
          <a:xfrm>
            <a:off x="3722688" y="2889250"/>
            <a:ext cx="17938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2" name="Text Box 85"/>
          <p:cNvSpPr txBox="1">
            <a:spLocks noChangeArrowheads="1"/>
          </p:cNvSpPr>
          <p:nvPr/>
        </p:nvSpPr>
        <p:spPr bwMode="auto">
          <a:xfrm>
            <a:off x="4495800" y="25034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3" name="Text Box 86"/>
          <p:cNvSpPr txBox="1">
            <a:spLocks noChangeArrowheads="1"/>
          </p:cNvSpPr>
          <p:nvPr/>
        </p:nvSpPr>
        <p:spPr bwMode="auto">
          <a:xfrm>
            <a:off x="5472113" y="1808163"/>
            <a:ext cx="179387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4" name="Text Box 88"/>
          <p:cNvSpPr txBox="1">
            <a:spLocks noChangeArrowheads="1"/>
          </p:cNvSpPr>
          <p:nvPr/>
        </p:nvSpPr>
        <p:spPr bwMode="auto">
          <a:xfrm>
            <a:off x="7632700" y="1628775"/>
            <a:ext cx="10795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0        0</a:t>
            </a:r>
          </a:p>
        </p:txBody>
      </p:sp>
    </p:spTree>
    <p:extLst>
      <p:ext uri="{BB962C8B-B14F-4D97-AF65-F5344CB8AC3E}">
        <p14:creationId xmlns:p14="http://schemas.microsoft.com/office/powerpoint/2010/main" val="173585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098739"/>
              </p:ext>
            </p:extLst>
          </p:nvPr>
        </p:nvGraphicFramePr>
        <p:xfrm>
          <a:off x="611188" y="1628775"/>
          <a:ext cx="558165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Visio" r:id="rId3" imgW="3237708" imgH="1725900" progId="Visio.Drawing.11">
                  <p:embed/>
                </p:oleObj>
              </mc:Choice>
              <mc:Fallback>
                <p:oleObj name="Visio" r:id="rId3" imgW="3237708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558165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Procedure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1188" y="1089025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 Approach</a:t>
            </a:r>
          </a:p>
        </p:txBody>
      </p:sp>
      <p:sp>
        <p:nvSpPr>
          <p:cNvPr id="7" name="Text Box 47"/>
          <p:cNvSpPr txBox="1">
            <a:spLocks noChangeArrowheads="1"/>
          </p:cNvSpPr>
          <p:nvPr/>
        </p:nvSpPr>
        <p:spPr bwMode="auto">
          <a:xfrm>
            <a:off x="790575" y="1704975"/>
            <a:ext cx="3603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 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5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80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6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1871663" y="1770063"/>
            <a:ext cx="179387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225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0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2771775" y="36083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3722688" y="2889250"/>
            <a:ext cx="17938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1" name="Text Box 51"/>
          <p:cNvSpPr txBox="1">
            <a:spLocks noChangeArrowheads="1"/>
          </p:cNvSpPr>
          <p:nvPr/>
        </p:nvSpPr>
        <p:spPr bwMode="auto">
          <a:xfrm>
            <a:off x="4495800" y="25034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2" name="Text Box 52"/>
          <p:cNvSpPr txBox="1">
            <a:spLocks noChangeArrowheads="1"/>
          </p:cNvSpPr>
          <p:nvPr/>
        </p:nvSpPr>
        <p:spPr bwMode="auto">
          <a:xfrm>
            <a:off x="5472113" y="1808163"/>
            <a:ext cx="179387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graphicFrame>
        <p:nvGraphicFramePr>
          <p:cNvPr id="13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634588"/>
              </p:ext>
            </p:extLst>
          </p:nvPr>
        </p:nvGraphicFramePr>
        <p:xfrm>
          <a:off x="6551613" y="1268413"/>
          <a:ext cx="2160587" cy="2700333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634288" y="1904206"/>
            <a:ext cx="1079500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0</a:t>
            </a:r>
          </a:p>
        </p:txBody>
      </p:sp>
    </p:spTree>
    <p:extLst>
      <p:ext uri="{BB962C8B-B14F-4D97-AF65-F5344CB8AC3E}">
        <p14:creationId xmlns:p14="http://schemas.microsoft.com/office/powerpoint/2010/main" val="223357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366010"/>
              </p:ext>
            </p:extLst>
          </p:nvPr>
        </p:nvGraphicFramePr>
        <p:xfrm>
          <a:off x="611188" y="1628775"/>
          <a:ext cx="558165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4" name="Visio" r:id="rId3" imgW="3237708" imgH="1725900" progId="Visio.Drawing.11">
                  <p:embed/>
                </p:oleObj>
              </mc:Choice>
              <mc:Fallback>
                <p:oleObj name="Visio" r:id="rId3" imgW="3237708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558165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Analysis Procedure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1188" y="1089025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Truth Table Approach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90575" y="1704975"/>
            <a:ext cx="3603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 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5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80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6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71663" y="1770063"/>
            <a:ext cx="179387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225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0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771775" y="36083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722688" y="2889250"/>
            <a:ext cx="17938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495800" y="25034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72113" y="1808163"/>
            <a:ext cx="179387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graphicFrame>
        <p:nvGraphicFramePr>
          <p:cNvPr id="13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773301"/>
              </p:ext>
            </p:extLst>
          </p:nvPr>
        </p:nvGraphicFramePr>
        <p:xfrm>
          <a:off x="6551613" y="1268413"/>
          <a:ext cx="2160587" cy="2700333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861302" y="2219325"/>
            <a:ext cx="10795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0</a:t>
            </a:r>
          </a:p>
        </p:txBody>
      </p:sp>
    </p:spTree>
    <p:extLst>
      <p:ext uri="{BB962C8B-B14F-4D97-AF65-F5344CB8AC3E}">
        <p14:creationId xmlns:p14="http://schemas.microsoft.com/office/powerpoint/2010/main" val="213375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908154"/>
              </p:ext>
            </p:extLst>
          </p:nvPr>
        </p:nvGraphicFramePr>
        <p:xfrm>
          <a:off x="611188" y="1628775"/>
          <a:ext cx="558165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8" name="Visio" r:id="rId3" imgW="3237708" imgH="1725900" progId="Visio.Drawing.11">
                  <p:embed/>
                </p:oleObj>
              </mc:Choice>
              <mc:Fallback>
                <p:oleObj name="Visio" r:id="rId3" imgW="3237708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558165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Analysis Procedure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1188" y="1089025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Truth Table Approach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90575" y="1704975"/>
            <a:ext cx="3603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 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5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80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6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71663" y="1770063"/>
            <a:ext cx="179387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225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0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771775" y="36083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722688" y="2889250"/>
            <a:ext cx="17938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495800" y="25034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72113" y="1808163"/>
            <a:ext cx="179387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graphicFrame>
        <p:nvGraphicFramePr>
          <p:cNvPr id="13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031663"/>
              </p:ext>
            </p:extLst>
          </p:nvPr>
        </p:nvGraphicFramePr>
        <p:xfrm>
          <a:off x="6551613" y="1268413"/>
          <a:ext cx="2160587" cy="2700333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853652" y="2489993"/>
            <a:ext cx="10795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b="1" dirty="0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6686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449994"/>
              </p:ext>
            </p:extLst>
          </p:nvPr>
        </p:nvGraphicFramePr>
        <p:xfrm>
          <a:off x="611188" y="1628775"/>
          <a:ext cx="558165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2" name="Visio" r:id="rId3" imgW="3237708" imgH="1725900" progId="Visio.Drawing.11">
                  <p:embed/>
                </p:oleObj>
              </mc:Choice>
              <mc:Fallback>
                <p:oleObj name="Visio" r:id="rId3" imgW="3237708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558165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Analysis Procedure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1188" y="1089025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Truth Table Approach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90575" y="1704975"/>
            <a:ext cx="3603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  <a:r>
              <a:rPr lang="en-US" sz="1400" b="1">
                <a:solidFill>
                  <a:schemeClr val="accent2"/>
                </a:solidFill>
              </a:rPr>
              <a:t> 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5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80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6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71663" y="1770063"/>
            <a:ext cx="179387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225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0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771775" y="36083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722688" y="2889250"/>
            <a:ext cx="17938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495800" y="25034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72113" y="1808163"/>
            <a:ext cx="179387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graphicFrame>
        <p:nvGraphicFramePr>
          <p:cNvPr id="13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586866"/>
              </p:ext>
            </p:extLst>
          </p:nvPr>
        </p:nvGraphicFramePr>
        <p:xfrm>
          <a:off x="6551613" y="1268413"/>
          <a:ext cx="2160587" cy="2700333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864476" y="2845594"/>
            <a:ext cx="10795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0</a:t>
            </a:r>
          </a:p>
        </p:txBody>
      </p:sp>
    </p:spTree>
    <p:extLst>
      <p:ext uri="{BB962C8B-B14F-4D97-AF65-F5344CB8AC3E}">
        <p14:creationId xmlns:p14="http://schemas.microsoft.com/office/powerpoint/2010/main" val="173860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397278"/>
              </p:ext>
            </p:extLst>
          </p:nvPr>
        </p:nvGraphicFramePr>
        <p:xfrm>
          <a:off x="611188" y="1628775"/>
          <a:ext cx="558165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6" name="Visio" r:id="rId3" imgW="3237708" imgH="1725900" progId="Visio.Drawing.11">
                  <p:embed/>
                </p:oleObj>
              </mc:Choice>
              <mc:Fallback>
                <p:oleObj name="Visio" r:id="rId3" imgW="3237708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558165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Analysis Procedure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1188" y="1089025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Truth Table Approach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90575" y="1704975"/>
            <a:ext cx="3603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  <a:r>
              <a:rPr lang="en-US" sz="1400" b="1">
                <a:solidFill>
                  <a:schemeClr val="accent2"/>
                </a:solidFill>
              </a:rPr>
              <a:t> 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5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80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6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71663" y="1770063"/>
            <a:ext cx="179387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225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0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771775" y="36083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722688" y="2889250"/>
            <a:ext cx="17938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495800" y="25034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72113" y="1808163"/>
            <a:ext cx="179387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graphicFrame>
        <p:nvGraphicFramePr>
          <p:cNvPr id="13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846124"/>
              </p:ext>
            </p:extLst>
          </p:nvPr>
        </p:nvGraphicFramePr>
        <p:xfrm>
          <a:off x="6551613" y="1268413"/>
          <a:ext cx="2160587" cy="2700333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812088" y="3123406"/>
            <a:ext cx="10795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b="1" dirty="0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1085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957429"/>
              </p:ext>
            </p:extLst>
          </p:nvPr>
        </p:nvGraphicFramePr>
        <p:xfrm>
          <a:off x="611188" y="1628775"/>
          <a:ext cx="558165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0" name="Visio" r:id="rId3" imgW="3237708" imgH="1725900" progId="Visio.Drawing.11">
                  <p:embed/>
                </p:oleObj>
              </mc:Choice>
              <mc:Fallback>
                <p:oleObj name="Visio" r:id="rId3" imgW="3237708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558165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Procedure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1188" y="1089025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Truth Table Approach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90575" y="1704975"/>
            <a:ext cx="3603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  <a:r>
              <a:rPr lang="en-US" sz="1400" b="1">
                <a:solidFill>
                  <a:schemeClr val="accent2"/>
                </a:solidFill>
              </a:rPr>
              <a:t> 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5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80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6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71663" y="1770063"/>
            <a:ext cx="179387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225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00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771775" y="36083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722688" y="2889250"/>
            <a:ext cx="17938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495800" y="25034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72113" y="1808163"/>
            <a:ext cx="179387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graphicFrame>
        <p:nvGraphicFramePr>
          <p:cNvPr id="13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779507"/>
              </p:ext>
            </p:extLst>
          </p:nvPr>
        </p:nvGraphicFramePr>
        <p:xfrm>
          <a:off x="6551613" y="1268413"/>
          <a:ext cx="2160587" cy="2700333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812088" y="3389313"/>
            <a:ext cx="10795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b="1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</a:t>
            </a:r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501731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282966"/>
              </p:ext>
            </p:extLst>
          </p:nvPr>
        </p:nvGraphicFramePr>
        <p:xfrm>
          <a:off x="611188" y="1628775"/>
          <a:ext cx="558165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4" name="Visio" r:id="rId3" imgW="3237708" imgH="1725900" progId="Visio.Drawing.11">
                  <p:embed/>
                </p:oleObj>
              </mc:Choice>
              <mc:Fallback>
                <p:oleObj name="Visio" r:id="rId3" imgW="3237708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558165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Analysis Procedure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1188" y="1089025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Truth Table Approach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90575" y="1704975"/>
            <a:ext cx="3603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  <a:r>
              <a:rPr lang="en-US" sz="1400" b="1">
                <a:solidFill>
                  <a:schemeClr val="accent2"/>
                </a:solidFill>
              </a:rPr>
              <a:t> 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5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80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6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71663" y="1770063"/>
            <a:ext cx="179387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25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00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771775" y="36083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722688" y="2889250"/>
            <a:ext cx="17938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495800" y="25034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72113" y="1808163"/>
            <a:ext cx="179387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graphicFrame>
        <p:nvGraphicFramePr>
          <p:cNvPr id="13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109514"/>
              </p:ext>
            </p:extLst>
          </p:nvPr>
        </p:nvGraphicFramePr>
        <p:xfrm>
          <a:off x="6551613" y="1268413"/>
          <a:ext cx="2160587" cy="2700333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812954" y="3715833"/>
            <a:ext cx="10795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5" name="Group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530537"/>
              </p:ext>
            </p:extLst>
          </p:nvPr>
        </p:nvGraphicFramePr>
        <p:xfrm>
          <a:off x="2232025" y="4329113"/>
          <a:ext cx="2700338" cy="1439862"/>
        </p:xfrm>
        <a:graphic>
          <a:graphicData uri="http://schemas.openxmlformats.org/drawingml/2006/table">
            <a:tbl>
              <a:tblPr/>
              <a:tblGrid>
                <a:gridCol w="163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509511"/>
              </p:ext>
            </p:extLst>
          </p:nvPr>
        </p:nvGraphicFramePr>
        <p:xfrm>
          <a:off x="5472113" y="4329113"/>
          <a:ext cx="2700337" cy="1439862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Oval 151"/>
          <p:cNvSpPr>
            <a:spLocks noChangeArrowheads="1"/>
          </p:cNvSpPr>
          <p:nvPr/>
        </p:nvSpPr>
        <p:spPr bwMode="auto">
          <a:xfrm>
            <a:off x="6448425" y="5087938"/>
            <a:ext cx="1079500" cy="2952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/>
          </a:p>
        </p:txBody>
      </p:sp>
      <p:sp>
        <p:nvSpPr>
          <p:cNvPr id="18" name="Oval 152"/>
          <p:cNvSpPr>
            <a:spLocks noChangeArrowheads="1"/>
          </p:cNvSpPr>
          <p:nvPr/>
        </p:nvSpPr>
        <p:spPr bwMode="auto">
          <a:xfrm>
            <a:off x="7034213" y="5089525"/>
            <a:ext cx="1079500" cy="295275"/>
          </a:xfrm>
          <a:prstGeom prst="ellipse">
            <a:avLst/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/>
          </a:p>
        </p:txBody>
      </p:sp>
      <p:sp>
        <p:nvSpPr>
          <p:cNvPr id="19" name="Oval 153"/>
          <p:cNvSpPr>
            <a:spLocks noChangeArrowheads="1"/>
          </p:cNvSpPr>
          <p:nvPr/>
        </p:nvSpPr>
        <p:spPr bwMode="auto">
          <a:xfrm>
            <a:off x="7099300" y="4689475"/>
            <a:ext cx="373063" cy="696913"/>
          </a:xfrm>
          <a:prstGeom prst="ellipse">
            <a:avLst/>
          </a:prstGeom>
          <a:noFill/>
          <a:ln w="28575" algn="ctr">
            <a:solidFill>
              <a:srgbClr val="99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/>
          </a:p>
        </p:txBody>
      </p:sp>
      <p:sp>
        <p:nvSpPr>
          <p:cNvPr id="20" name="Text Box 154"/>
          <p:cNvSpPr txBox="1">
            <a:spLocks noChangeArrowheads="1"/>
          </p:cNvSpPr>
          <p:nvPr/>
        </p:nvSpPr>
        <p:spPr bwMode="auto">
          <a:xfrm>
            <a:off x="1331913" y="5949950"/>
            <a:ext cx="4140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AB'C'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A'BC'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A'B'C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</a:p>
        </p:txBody>
      </p:sp>
      <p:sp>
        <p:nvSpPr>
          <p:cNvPr id="21" name="Text Box 155"/>
          <p:cNvSpPr txBox="1">
            <a:spLocks noChangeArrowheads="1"/>
          </p:cNvSpPr>
          <p:nvPr/>
        </p:nvSpPr>
        <p:spPr bwMode="auto">
          <a:xfrm>
            <a:off x="5832475" y="5943600"/>
            <a:ext cx="2159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</a:p>
        </p:txBody>
      </p:sp>
      <p:sp>
        <p:nvSpPr>
          <p:cNvPr id="2" name="Oval Callout 1"/>
          <p:cNvSpPr/>
          <p:nvPr/>
        </p:nvSpPr>
        <p:spPr>
          <a:xfrm>
            <a:off x="9299864" y="4197927"/>
            <a:ext cx="2306781" cy="1185286"/>
          </a:xfrm>
          <a:prstGeom prst="wedgeEllipseCallout">
            <a:avLst>
              <a:gd name="adj1" fmla="val -97168"/>
              <a:gd name="adj2" fmla="val 18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Minimization using K-Map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Discuss later ….</a:t>
            </a:r>
          </a:p>
        </p:txBody>
      </p:sp>
    </p:spTree>
    <p:extLst>
      <p:ext uri="{BB962C8B-B14F-4D97-AF65-F5344CB8AC3E}">
        <p14:creationId xmlns:p14="http://schemas.microsoft.com/office/powerpoint/2010/main" val="2641069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3032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Procedure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31800" y="1089025"/>
            <a:ext cx="8280400" cy="3857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problem statement: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number of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truth table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Boolean expression for each output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the required circuit</a:t>
            </a:r>
          </a:p>
        </p:txBody>
      </p:sp>
    </p:spTree>
    <p:extLst>
      <p:ext uri="{BB962C8B-B14F-4D97-AF65-F5344CB8AC3E}">
        <p14:creationId xmlns:p14="http://schemas.microsoft.com/office/powerpoint/2010/main" val="184589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692275"/>
              </p:ext>
            </p:extLst>
          </p:nvPr>
        </p:nvGraphicFramePr>
        <p:xfrm>
          <a:off x="611188" y="1628775"/>
          <a:ext cx="5581650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8" name="Visio" r:id="rId3" imgW="3237708" imgH="1725900" progId="Visio.Drawing.11">
                  <p:embed/>
                </p:oleObj>
              </mc:Choice>
              <mc:Fallback>
                <p:oleObj name="Visio" r:id="rId3" imgW="3237708" imgH="17259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5581650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Analysis Procedure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2054" y="850106"/>
            <a:ext cx="8280400" cy="477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Truth Table Approach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90575" y="1704975"/>
            <a:ext cx="3603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  <a:r>
              <a:rPr lang="en-US" sz="1400" b="1">
                <a:solidFill>
                  <a:schemeClr val="accent2"/>
                </a:solidFill>
              </a:rPr>
              <a:t> </a:t>
            </a:r>
            <a:endParaRPr lang="en-US" sz="1400" b="1">
              <a:solidFill>
                <a:srgbClr val="9966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5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80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6500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US" sz="1400" b="1">
                <a:solidFill>
                  <a:srgbClr val="996600"/>
                </a:solidFill>
              </a:rPr>
              <a:t>= </a:t>
            </a: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71663" y="1770063"/>
            <a:ext cx="179387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25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200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  <a:p>
            <a:pPr>
              <a:spcBef>
                <a:spcPct val="17000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771775" y="36083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722688" y="2889250"/>
            <a:ext cx="17938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495800" y="2503488"/>
            <a:ext cx="179388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72113" y="1808163"/>
            <a:ext cx="179387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graphicFrame>
        <p:nvGraphicFramePr>
          <p:cNvPr id="13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2445"/>
              </p:ext>
            </p:extLst>
          </p:nvPr>
        </p:nvGraphicFramePr>
        <p:xfrm>
          <a:off x="6551613" y="1268413"/>
          <a:ext cx="2160587" cy="2700333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812954" y="3715833"/>
            <a:ext cx="10795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solidFill>
                  <a:srgbClr val="99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5" name="Group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941190"/>
              </p:ext>
            </p:extLst>
          </p:nvPr>
        </p:nvGraphicFramePr>
        <p:xfrm>
          <a:off x="2232025" y="4329113"/>
          <a:ext cx="2700338" cy="1439862"/>
        </p:xfrm>
        <a:graphic>
          <a:graphicData uri="http://schemas.openxmlformats.org/drawingml/2006/table">
            <a:tbl>
              <a:tblPr/>
              <a:tblGrid>
                <a:gridCol w="163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750723"/>
              </p:ext>
            </p:extLst>
          </p:nvPr>
        </p:nvGraphicFramePr>
        <p:xfrm>
          <a:off x="5472113" y="4329113"/>
          <a:ext cx="2700337" cy="1439862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Oval 151"/>
          <p:cNvSpPr>
            <a:spLocks noChangeArrowheads="1"/>
          </p:cNvSpPr>
          <p:nvPr/>
        </p:nvSpPr>
        <p:spPr bwMode="auto">
          <a:xfrm>
            <a:off x="6448425" y="5087938"/>
            <a:ext cx="1079500" cy="2952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/>
          </a:p>
        </p:txBody>
      </p:sp>
      <p:sp>
        <p:nvSpPr>
          <p:cNvPr id="18" name="Oval 152"/>
          <p:cNvSpPr>
            <a:spLocks noChangeArrowheads="1"/>
          </p:cNvSpPr>
          <p:nvPr/>
        </p:nvSpPr>
        <p:spPr bwMode="auto">
          <a:xfrm>
            <a:off x="7034213" y="5089525"/>
            <a:ext cx="1079500" cy="295275"/>
          </a:xfrm>
          <a:prstGeom prst="ellipse">
            <a:avLst/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/>
          </a:p>
        </p:txBody>
      </p:sp>
      <p:sp>
        <p:nvSpPr>
          <p:cNvPr id="19" name="Oval 153"/>
          <p:cNvSpPr>
            <a:spLocks noChangeArrowheads="1"/>
          </p:cNvSpPr>
          <p:nvPr/>
        </p:nvSpPr>
        <p:spPr bwMode="auto">
          <a:xfrm>
            <a:off x="7099300" y="4689475"/>
            <a:ext cx="373063" cy="696913"/>
          </a:xfrm>
          <a:prstGeom prst="ellipse">
            <a:avLst/>
          </a:prstGeom>
          <a:noFill/>
          <a:ln w="28575" algn="ctr">
            <a:solidFill>
              <a:srgbClr val="99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/>
          </a:p>
        </p:txBody>
      </p:sp>
      <p:sp>
        <p:nvSpPr>
          <p:cNvPr id="20" name="Text Box 154"/>
          <p:cNvSpPr txBox="1">
            <a:spLocks noChangeArrowheads="1"/>
          </p:cNvSpPr>
          <p:nvPr/>
        </p:nvSpPr>
        <p:spPr bwMode="auto">
          <a:xfrm>
            <a:off x="1331913" y="5949950"/>
            <a:ext cx="4140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AB'C'</a:t>
            </a:r>
            <a:r>
              <a:rPr lang="en-US" sz="22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A'BC'</a:t>
            </a:r>
            <a:r>
              <a:rPr lang="en-US" sz="22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A'B'C</a:t>
            </a:r>
            <a:r>
              <a:rPr lang="en-US" sz="22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</a:p>
        </p:txBody>
      </p:sp>
      <p:sp>
        <p:nvSpPr>
          <p:cNvPr id="21" name="Text Box 155"/>
          <p:cNvSpPr txBox="1">
            <a:spLocks noChangeArrowheads="1"/>
          </p:cNvSpPr>
          <p:nvPr/>
        </p:nvSpPr>
        <p:spPr bwMode="auto">
          <a:xfrm>
            <a:off x="5832475" y="5943600"/>
            <a:ext cx="2159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2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sz="22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</a:p>
        </p:txBody>
      </p:sp>
      <p:sp>
        <p:nvSpPr>
          <p:cNvPr id="2" name="Oval Callout 1"/>
          <p:cNvSpPr/>
          <p:nvPr/>
        </p:nvSpPr>
        <p:spPr>
          <a:xfrm>
            <a:off x="9299864" y="3934908"/>
            <a:ext cx="2306781" cy="1448305"/>
          </a:xfrm>
          <a:prstGeom prst="wedgeEllipseCallout">
            <a:avLst>
              <a:gd name="adj1" fmla="val -97168"/>
              <a:gd name="adj2" fmla="val 18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Minimization using K-Map </a:t>
            </a:r>
          </a:p>
        </p:txBody>
      </p:sp>
    </p:spTree>
    <p:extLst>
      <p:ext uri="{BB962C8B-B14F-4D97-AF65-F5344CB8AC3E}">
        <p14:creationId xmlns:p14="http://schemas.microsoft.com/office/powerpoint/2010/main" val="13437386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8196" y="1178338"/>
            <a:ext cx="979258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-28575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Gate-level minimization is the design task of finding an optimal gate-level implementation of the Boolean functions describing a digital circuit. </a:t>
            </a:r>
          </a:p>
          <a:p>
            <a:pPr marL="285750" lvl="2" indent="-28575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task is well understood, but is difficult to execute by manual methods when the logic has more than a few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911" y="270869"/>
            <a:ext cx="111925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Gate-Level Minimization</a:t>
            </a:r>
          </a:p>
        </p:txBody>
      </p:sp>
    </p:spTree>
    <p:extLst>
      <p:ext uri="{BB962C8B-B14F-4D97-AF65-F5344CB8AC3E}">
        <p14:creationId xmlns:p14="http://schemas.microsoft.com/office/powerpoint/2010/main" val="15337053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52400"/>
            <a:ext cx="7772400" cy="712788"/>
          </a:xfrm>
        </p:spPr>
        <p:txBody>
          <a:bodyPr lIns="0" tIns="0" rIns="0" bIns="0"/>
          <a:lstStyle/>
          <a:p>
            <a:pPr eaLnBrk="1" hangingPunct="1"/>
            <a:r>
              <a:rPr lang="en-US" altLang="zh-TW" sz="2800" b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The Map Method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066800"/>
            <a:ext cx="8077200" cy="5181600"/>
          </a:xfrm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zh-TW" sz="24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The complexity of the digital logic gates </a:t>
            </a:r>
          </a:p>
          <a:p>
            <a:pPr lvl="1"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The complexity of the algebraic expression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zh-TW" sz="24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Logic minimization</a:t>
            </a:r>
          </a:p>
          <a:p>
            <a:pPr lvl="1"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Algebraic approaches: lack specific rules</a:t>
            </a:r>
          </a:p>
          <a:p>
            <a:pPr lvl="1"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The </a:t>
            </a:r>
            <a:r>
              <a:rPr lang="en-US" altLang="zh-TW" sz="2000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Karnaugh</a:t>
            </a:r>
            <a:r>
              <a:rPr lang="en-US" altLang="zh-TW" sz="2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map</a:t>
            </a:r>
          </a:p>
          <a:p>
            <a:pPr lvl="2" eaLnBrk="1" hangingPunct="1">
              <a:buFont typeface="Wingdings" pitchFamily="2" charset="2"/>
              <a:buChar char="ü"/>
            </a:pPr>
            <a:r>
              <a:rPr lang="en-US" altLang="zh-TW" sz="18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 simple straight forward procedure</a:t>
            </a:r>
          </a:p>
          <a:p>
            <a:pPr lvl="2" eaLnBrk="1" hangingPunct="1">
              <a:buFont typeface="Wingdings" pitchFamily="2" charset="2"/>
              <a:buChar char="ü"/>
            </a:pPr>
            <a:r>
              <a:rPr lang="en-US" altLang="zh-TW" sz="18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 pictorial form of a truth table</a:t>
            </a:r>
          </a:p>
          <a:p>
            <a:pPr lvl="2" eaLnBrk="1" hangingPunct="1">
              <a:buFont typeface="Wingdings" pitchFamily="2" charset="2"/>
              <a:buChar char="ü"/>
            </a:pPr>
            <a:r>
              <a:rPr lang="en-US" altLang="zh-TW" sz="18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Applicable if the # of variables &lt; 7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zh-TW" sz="24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 diagram made up of squares</a:t>
            </a:r>
          </a:p>
          <a:p>
            <a:pPr lvl="1"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Each square represents one </a:t>
            </a:r>
            <a:r>
              <a:rPr lang="en-US" altLang="zh-TW" sz="2000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minterm</a:t>
            </a:r>
            <a:endParaRPr lang="zh-TW" altLang="en-US" sz="2000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080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0768" y="834947"/>
            <a:ext cx="11223305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expressions may be simplified by algebraic means.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Karnaugh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 or K-map .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 simple straight forward procedure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 pictorial form of a truth table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Applicable if the # of variables &lt; 7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diagram made up of squares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square represents one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minterm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maxterms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function can be expressed as a sum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minterms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simplified expressions produced by the map are two standard forms: 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products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of sums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 produces a circuit diagram with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minimum number of gates and 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number of inputs to each gate.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4334" y="127061"/>
            <a:ext cx="114876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anose="02020603050405020304" pitchFamily="18" charset="0"/>
              </a:rPr>
              <a:t>The Map Method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938" y="1328423"/>
            <a:ext cx="3556000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5173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 idx="4294967295"/>
          </p:nvPr>
        </p:nvSpPr>
        <p:spPr>
          <a:xfrm>
            <a:off x="914400" y="152400"/>
            <a:ext cx="7772400" cy="712788"/>
          </a:xfrm>
        </p:spPr>
        <p:txBody>
          <a:bodyPr lIns="0" tIns="0" rIns="0" bIns="0">
            <a:normAutofit/>
          </a:bodyPr>
          <a:lstStyle/>
          <a:p>
            <a:pPr eaLnBrk="1" hangingPunct="1"/>
            <a:r>
              <a:rPr lang="en-US" altLang="zh-TW" sz="2800" b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Two-Variable Map</a:t>
            </a:r>
            <a:endParaRPr lang="zh-TW" altLang="en-US" sz="2800" b="1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/>
          <p:cNvSpPr>
            <a:spLocks noGrp="1"/>
          </p:cNvSpPr>
          <p:nvPr>
            <p:ph idx="4294967295"/>
          </p:nvPr>
        </p:nvSpPr>
        <p:spPr>
          <a:xfrm>
            <a:off x="685799" y="1066800"/>
            <a:ext cx="5392305" cy="5181600"/>
          </a:xfrm>
        </p:spPr>
        <p:txBody>
          <a:bodyPr lIns="90488" tIns="44450" rIns="90488" bIns="44450"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altLang="zh-TW" sz="24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 two-variable map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</a:t>
            </a:r>
            <a:r>
              <a:rPr lang="en-US" altLang="zh-TW" sz="24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)</a:t>
            </a:r>
          </a:p>
          <a:p>
            <a:pPr marL="781050" lvl="1" indent="-323850" eaLnBrk="1" hangingPunct="1"/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Four </a:t>
            </a:r>
            <a:r>
              <a:rPr lang="en-US" altLang="zh-TW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minterms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</a:p>
          <a:p>
            <a:pPr marL="781050" lvl="1" indent="-3238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squares, one for each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minterm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81050" lvl="1" indent="-323850" eaLnBrk="1" hangingPunct="1"/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x' 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= row 0; </a:t>
            </a:r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= row 1</a:t>
            </a:r>
          </a:p>
          <a:p>
            <a:pPr marL="781050" lvl="1" indent="-323850" eaLnBrk="1" hangingPunct="1"/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y' 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= column 0; </a:t>
            </a:r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= column 1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is redrawn in Fig.1(b):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the relationship between the squares and the variables x and y 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0 and 1 marked in each row and column designate the values of variables. </a:t>
            </a:r>
          </a:p>
          <a:p>
            <a:pPr eaLnBrk="1" hangingPunct="1"/>
            <a:endParaRPr lang="zh-TW" altLang="en-US" sz="2600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617571" y="2758145"/>
            <a:ext cx="4786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Fig. 2 Representation of functions in the map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563" y="645555"/>
            <a:ext cx="3556000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411340" y="281460"/>
            <a:ext cx="3108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Fig. 1 Two-variable Map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914563" y="3128032"/>
            <a:ext cx="4625975" cy="2338388"/>
            <a:chOff x="6914563" y="3128032"/>
            <a:chExt cx="4625975" cy="2338388"/>
          </a:xfrm>
        </p:grpSpPr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3">
              <a:lum bright="-10000" contrast="3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4563" y="3128032"/>
              <a:ext cx="4625975" cy="233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Oval 1"/>
            <p:cNvSpPr/>
            <p:nvPr/>
          </p:nvSpPr>
          <p:spPr>
            <a:xfrm>
              <a:off x="9832644" y="4448210"/>
              <a:ext cx="1122218" cy="372774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 rot="5400000">
              <a:off x="10069137" y="4110839"/>
              <a:ext cx="1122218" cy="37277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6914563" y="5466420"/>
            <a:ext cx="5198774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81050" lvl="1" indent="-323850"/>
            <a:r>
              <a:rPr lang="en-US" altLang="zh-TW" sz="2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 truth table in square diagram</a:t>
            </a:r>
          </a:p>
          <a:p>
            <a:pPr marL="781050" lvl="1" indent="-323850"/>
            <a:r>
              <a:rPr lang="en-US" altLang="zh-TW" sz="2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Fig. 2(a): </a:t>
            </a:r>
            <a:r>
              <a:rPr lang="en-US" altLang="zh-TW" sz="20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xy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= m</a:t>
            </a:r>
            <a:r>
              <a:rPr lang="en-US" altLang="zh-TW" sz="20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</a:p>
          <a:p>
            <a:pPr marL="781050" lvl="1" indent="-323850"/>
            <a:r>
              <a:rPr lang="en-US" altLang="zh-TW" sz="2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Fig. 2(b): </a:t>
            </a:r>
            <a:r>
              <a:rPr lang="en-US" altLang="zh-TW" sz="20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x+y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= </a:t>
            </a:r>
            <a:r>
              <a:rPr lang="en-US" altLang="zh-TW" sz="20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x'y+xy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' +</a:t>
            </a:r>
            <a:r>
              <a:rPr lang="en-US" altLang="zh-TW" sz="20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xy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= m</a:t>
            </a:r>
            <a:r>
              <a:rPr lang="en-US" altLang="zh-TW" sz="20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1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+m</a:t>
            </a:r>
            <a:r>
              <a:rPr lang="en-US" altLang="zh-TW" sz="20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+m</a:t>
            </a:r>
            <a:r>
              <a:rPr lang="en-US" altLang="zh-TW" sz="20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lang="zh-TW" altLang="en-US" sz="2000" baseline="-25000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marL="781050" lvl="1" indent="-323850"/>
            <a:endParaRPr lang="zh-TW" altLang="en-US" sz="2000" baseline="-25000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8291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81800" y="6553200"/>
            <a:ext cx="1905000" cy="152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5B78AC-515D-441D-8929-A853E969BA70}" type="slidenum">
              <a:rPr 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sz="1000"/>
          </a:p>
        </p:txBody>
      </p:sp>
      <p:sp>
        <p:nvSpPr>
          <p:cNvPr id="4" name="標題 1"/>
          <p:cNvSpPr>
            <a:spLocks noGrp="1"/>
          </p:cNvSpPr>
          <p:nvPr>
            <p:ph type="title" idx="4294967295"/>
          </p:nvPr>
        </p:nvSpPr>
        <p:spPr>
          <a:xfrm>
            <a:off x="914400" y="152400"/>
            <a:ext cx="7772400" cy="712788"/>
          </a:xfrm>
        </p:spPr>
        <p:txBody>
          <a:bodyPr lIns="0" tIns="0" rIns="0" bIns="0">
            <a:normAutofit/>
          </a:bodyPr>
          <a:lstStyle/>
          <a:p>
            <a:pPr eaLnBrk="1" hangingPunct="1"/>
            <a:r>
              <a:rPr lang="en-US" altLang="zh-TW" sz="2800" b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Three-variable Map</a:t>
            </a:r>
            <a:endParaRPr lang="zh-TW" altLang="en-US" sz="2800" b="1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2"/>
          <p:cNvSpPr>
            <a:spLocks noGrp="1"/>
          </p:cNvSpPr>
          <p:nvPr>
            <p:ph idx="4294967295"/>
          </p:nvPr>
        </p:nvSpPr>
        <p:spPr>
          <a:xfrm>
            <a:off x="685800" y="1066800"/>
            <a:ext cx="8077200" cy="5181600"/>
          </a:xfrm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zh-TW" sz="24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 three-variable map</a:t>
            </a:r>
          </a:p>
          <a:p>
            <a:pPr lvl="1" eaLnBrk="1" hangingPunct="1"/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Eight </a:t>
            </a:r>
            <a:r>
              <a:rPr lang="en-US" altLang="zh-TW" sz="2200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minterms</a:t>
            </a:r>
            <a:endParaRPr lang="en-US" altLang="zh-TW" sz="2200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The Gray code sequence</a:t>
            </a:r>
          </a:p>
          <a:p>
            <a:pPr lvl="1" eaLnBrk="1" hangingPunct="1"/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Any two adjacent squares in the map differ by only on variable</a:t>
            </a:r>
          </a:p>
          <a:p>
            <a:pPr lvl="2" eaLnBrk="1" hangingPunct="1"/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Primed in one square and unprimed in the other</a:t>
            </a:r>
          </a:p>
          <a:p>
            <a:pPr lvl="2" eaLnBrk="1" hangingPunct="1"/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e.g., </a:t>
            </a:r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</a:t>
            </a:r>
            <a:r>
              <a:rPr lang="en-US" altLang="zh-TW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 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and </a:t>
            </a:r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</a:t>
            </a:r>
            <a:r>
              <a:rPr lang="en-US" altLang="zh-TW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can be simplified</a:t>
            </a:r>
          </a:p>
          <a:p>
            <a:pPr lvl="2" eaLnBrk="1" hangingPunct="1"/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</a:t>
            </a:r>
            <a:r>
              <a:rPr lang="en-US" altLang="zh-TW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+ m</a:t>
            </a:r>
            <a:r>
              <a:rPr lang="en-US" altLang="zh-TW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 </a:t>
            </a:r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= </a:t>
            </a:r>
            <a:r>
              <a:rPr lang="en-US" altLang="zh-TW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xy'z</a:t>
            </a:r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+ xyz = </a:t>
            </a:r>
            <a:r>
              <a:rPr lang="en-US" altLang="zh-TW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xz</a:t>
            </a:r>
            <a:r>
              <a:rPr lang="en-US" altLang="zh-TW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y'+y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) = </a:t>
            </a:r>
            <a:r>
              <a:rPr lang="en-US" altLang="zh-TW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xz</a:t>
            </a:r>
            <a:endParaRPr lang="en-US" altLang="zh-TW" i="1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eaLnBrk="1" hangingPunct="1"/>
            <a:endParaRPr lang="zh-TW" altLang="en-US" sz="2000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996477" y="6203499"/>
            <a:ext cx="4786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Three-variable Map</a:t>
            </a: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0"/>
          <a:stretch/>
        </p:blipFill>
        <p:spPr bwMode="auto">
          <a:xfrm>
            <a:off x="1602581" y="3318163"/>
            <a:ext cx="7048842" cy="2412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314131" y="3483297"/>
            <a:ext cx="3210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x’yz+x’yz</a:t>
            </a:r>
            <a:r>
              <a:rPr lang="en-US" dirty="0"/>
              <a:t>’=</a:t>
            </a:r>
            <a:r>
              <a:rPr lang="en-US" dirty="0" err="1"/>
              <a:t>x’y</a:t>
            </a:r>
            <a:r>
              <a:rPr lang="en-US" dirty="0"/>
              <a:t>(</a:t>
            </a:r>
            <a:r>
              <a:rPr lang="en-US" dirty="0" err="1"/>
              <a:t>z+z</a:t>
            </a:r>
            <a:r>
              <a:rPr lang="en-US" dirty="0"/>
              <a:t>’)=x’y.1=</a:t>
            </a:r>
            <a:r>
              <a:rPr lang="en-US" dirty="0" err="1"/>
              <a:t>x’y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581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52400"/>
            <a:ext cx="7772400" cy="712788"/>
          </a:xfrm>
        </p:spPr>
        <p:txBody>
          <a:bodyPr lIns="0" tIns="0" rIns="0" bIns="0">
            <a:normAutofit/>
          </a:bodyPr>
          <a:lstStyle/>
          <a:p>
            <a:pPr eaLnBrk="1" hangingPunct="1"/>
            <a:r>
              <a:rPr lang="en-US" altLang="zh-TW" sz="2800" b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Three-variable Map</a:t>
            </a:r>
            <a:endParaRPr lang="zh-TW" altLang="en-US" sz="2800" b="1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066800"/>
            <a:ext cx="8077200" cy="5181600"/>
          </a:xfrm>
        </p:spPr>
        <p:txBody>
          <a:bodyPr lIns="90488" tIns="44450" rIns="90488" bIns="44450"/>
          <a:lstStyle/>
          <a:p>
            <a:pPr lvl="1" eaLnBrk="1" hangingPunct="1"/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</a:t>
            </a:r>
            <a:r>
              <a:rPr lang="en-US" altLang="zh-TW" sz="22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</a:t>
            </a:r>
            <a:r>
              <a:rPr lang="en-US" altLang="zh-TW" sz="2200" i="1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and 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</a:t>
            </a:r>
            <a:r>
              <a:rPr lang="en-US" altLang="zh-TW" sz="22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</a:t>
            </a:r>
            <a:r>
              <a:rPr lang="en-US" altLang="zh-TW" sz="22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 </a:t>
            </a: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and 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</a:t>
            </a:r>
            <a:r>
              <a:rPr lang="en-US" altLang="zh-TW" sz="22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) are adjacent</a:t>
            </a:r>
          </a:p>
          <a:p>
            <a:pPr lvl="1" eaLnBrk="1" hangingPunct="1"/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</a:t>
            </a:r>
            <a:r>
              <a:rPr lang="en-US" altLang="zh-TW" sz="22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+ m</a:t>
            </a:r>
            <a:r>
              <a:rPr lang="en-US" altLang="zh-TW" sz="22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r>
              <a:rPr lang="en-US" altLang="zh-TW" sz="2200" i="1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= </a:t>
            </a:r>
            <a:r>
              <a:rPr lang="en-US" altLang="zh-TW" sz="22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x'y'z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' + </a:t>
            </a:r>
            <a:r>
              <a:rPr lang="en-US" altLang="zh-TW" sz="22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x'yz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' = </a:t>
            </a:r>
            <a:r>
              <a:rPr lang="en-US" altLang="zh-TW" sz="22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x'z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' </a:t>
            </a: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sz="22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y'+y</a:t>
            </a: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) = </a:t>
            </a:r>
            <a:r>
              <a:rPr lang="en-US" altLang="zh-TW" sz="22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x'z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'	  </a:t>
            </a:r>
          </a:p>
          <a:p>
            <a:pPr lvl="1" eaLnBrk="1" hangingPunct="1"/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m</a:t>
            </a:r>
            <a:r>
              <a:rPr lang="en-US" altLang="zh-TW" sz="22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+ m</a:t>
            </a:r>
            <a:r>
              <a:rPr lang="en-US" altLang="zh-TW" sz="2200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r>
              <a:rPr lang="en-US" altLang="zh-TW" sz="2200" i="1" baseline="-250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= </a:t>
            </a:r>
            <a:r>
              <a:rPr lang="en-US" altLang="zh-TW" sz="22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xy'z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' + xyz' = </a:t>
            </a:r>
            <a:r>
              <a:rPr lang="en-US" altLang="zh-TW" sz="22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xz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' </a:t>
            </a: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sz="22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y'+y</a:t>
            </a:r>
            <a:r>
              <a:rPr lang="en-US" altLang="zh-TW" sz="22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) = </a:t>
            </a:r>
            <a:r>
              <a:rPr lang="en-US" altLang="zh-TW" sz="2200" i="1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xz</a:t>
            </a:r>
            <a:r>
              <a:rPr lang="en-US" altLang="zh-TW" sz="2200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'</a:t>
            </a:r>
          </a:p>
          <a:p>
            <a:pPr eaLnBrk="1" hangingPunct="1"/>
            <a:endParaRPr lang="zh-TW" altLang="en-US" dirty="0">
              <a:ea typeface="新細明體" pitchFamily="18" charset="-12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2491653"/>
            <a:ext cx="7477125" cy="2809875"/>
          </a:xfrm>
          <a:prstGeom prst="rect">
            <a:avLst/>
          </a:prstGeom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236642" y="5590020"/>
            <a:ext cx="4786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Three-variable Map</a:t>
            </a:r>
          </a:p>
        </p:txBody>
      </p:sp>
    </p:spTree>
    <p:extLst>
      <p:ext uri="{BB962C8B-B14F-4D97-AF65-F5344CB8AC3E}">
        <p14:creationId xmlns:p14="http://schemas.microsoft.com/office/powerpoint/2010/main" val="11824169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262" y="360457"/>
            <a:ext cx="9740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Karnaugh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Maps - Rules of Simplification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078522" y="1296632"/>
            <a:ext cx="8452339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Summary: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 zeros allowed.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 diagonals.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Only power of 2 number of cells in each group.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Groups should be as large as possible.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Every one must be in at least one group.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Overlapping allowed.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Wrap around allowed.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Fewest number of groups possible.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6200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262" y="360457"/>
            <a:ext cx="9740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Karnaugh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Maps - Rules of Simplification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046" y="1214881"/>
            <a:ext cx="6665530" cy="255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046" y="3774831"/>
            <a:ext cx="7283371" cy="2712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40817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262" y="360457"/>
            <a:ext cx="9740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Karnaugh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Maps - Rules of Simplification</a:t>
            </a: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86"/>
          <a:stretch/>
        </p:blipFill>
        <p:spPr bwMode="auto">
          <a:xfrm>
            <a:off x="1473546" y="1219199"/>
            <a:ext cx="9016022" cy="453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89068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262" y="360457"/>
            <a:ext cx="9740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Karnaugh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Maps - Rules of Simplification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534" y="1433571"/>
            <a:ext cx="8079604" cy="3060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949" y="3823921"/>
            <a:ext cx="7215285" cy="208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28234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262" y="360457"/>
            <a:ext cx="9740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Karnaugh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Maps - Rules of Simplification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01" y="2193644"/>
            <a:ext cx="9108158" cy="2635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8327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262" y="360457"/>
            <a:ext cx="9740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Karnaugh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Maps - Rules of Simplification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221" y="1068343"/>
            <a:ext cx="7912349" cy="5425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95645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262" y="360457"/>
            <a:ext cx="9740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Karnaugh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Maps - Rules of Simplification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884" y="1004606"/>
            <a:ext cx="10103782" cy="402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04452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262" y="360457"/>
            <a:ext cx="9740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Karnaugh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Maps - Rules of Simplification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62" y="1190454"/>
            <a:ext cx="10339552" cy="3344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07704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www.gatevidyalay.com/wp-content/uploads/2020/07/Minimization-of-Boolean-Expressio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78" y="1720289"/>
            <a:ext cx="10290345" cy="301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56834" y="334851"/>
            <a:ext cx="4765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Minimization Techniques </a:t>
            </a:r>
          </a:p>
        </p:txBody>
      </p:sp>
    </p:spTree>
    <p:extLst>
      <p:ext uri="{BB962C8B-B14F-4D97-AF65-F5344CB8AC3E}">
        <p14:creationId xmlns:p14="http://schemas.microsoft.com/office/powerpoint/2010/main" val="12213964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s://www.gatevidyalay.com/wp-content/uploads/2020/07/Two-Variable-K-Map-Representatio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943" y="1393713"/>
            <a:ext cx="8395597" cy="393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7355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s://www.gatevidyalay.com/wp-content/uploads/2020/07/Three-Variable-K-Map-Representations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443" y="447004"/>
            <a:ext cx="5562644" cy="622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3270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s://www.gatevidyalay.com/wp-content/uploads/2020/07/Four-Variable-K-Map-Representations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454"/>
          <a:stretch/>
        </p:blipFill>
        <p:spPr bwMode="auto">
          <a:xfrm>
            <a:off x="1679473" y="1592635"/>
            <a:ext cx="4566424" cy="388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www.gatevidyalay.com/wp-content/uploads/2020/07/Four-Variable-K-Map-Representations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36" b="5126"/>
          <a:stretch/>
        </p:blipFill>
        <p:spPr bwMode="auto">
          <a:xfrm>
            <a:off x="6836334" y="1791300"/>
            <a:ext cx="4342528" cy="39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3270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206" y="820059"/>
            <a:ext cx="11360800" cy="1122400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u="sng" dirty="0"/>
              <a:t>Problem-01:</a:t>
            </a:r>
            <a:br>
              <a:rPr lang="en-US" b="1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Minimize the following </a:t>
            </a:r>
            <a:r>
              <a:rPr lang="en-US" dirty="0" err="1"/>
              <a:t>boolean</a:t>
            </a:r>
            <a:r>
              <a:rPr lang="en-US" dirty="0"/>
              <a:t> function-</a:t>
            </a:r>
            <a:br>
              <a:rPr lang="en-US" dirty="0"/>
            </a:br>
            <a:r>
              <a:rPr lang="en-US" dirty="0"/>
              <a:t>F(A, B, C, D) = </a:t>
            </a:r>
            <a:r>
              <a:rPr lang="en-US" dirty="0" err="1"/>
              <a:t>Σm</a:t>
            </a:r>
            <a:r>
              <a:rPr lang="en-US" dirty="0"/>
              <a:t>(0, 1, 2, 5, 7, 8, 9, 10, 13, 15)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270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xfrm>
            <a:off x="1504156" y="4095482"/>
            <a:ext cx="9468643" cy="1097052"/>
          </a:xfrm>
          <a:prstGeom prst="rect">
            <a:avLst/>
          </a:prstGeom>
        </p:spPr>
        <p:txBody>
          <a:bodyPr wrap="square" lIns="121897" tIns="121897" rIns="121897" bIns="121897" anchor="ctr" anchorCtr="0">
            <a:noAutofit/>
          </a:bodyPr>
          <a:lstStyle/>
          <a:p>
            <a:pPr algn="l" fontAlgn="base"/>
            <a:r>
              <a:rPr lang="en-US" sz="2400" dirty="0"/>
              <a:t>Now,</a:t>
            </a:r>
            <a:br>
              <a:rPr lang="en-US" sz="2400" dirty="0"/>
            </a:br>
            <a:r>
              <a:rPr lang="en-US" sz="2400" dirty="0"/>
              <a:t>F(A, B, C, D)</a:t>
            </a:r>
            <a:br>
              <a:rPr lang="en-US" sz="2400" dirty="0"/>
            </a:br>
            <a:r>
              <a:rPr lang="en-US" sz="2400" dirty="0"/>
              <a:t>= (A’B + AB)(C’D + CD) + (A’B’ + A’B + AB + AB’)C’D + (A’B’ + AB’)(C’D’ + CD’)</a:t>
            </a:r>
            <a:br>
              <a:rPr lang="en-US" sz="2400" dirty="0"/>
            </a:br>
            <a:r>
              <a:rPr lang="en-US" sz="2400" dirty="0"/>
              <a:t>= BD + C’D + B’D’</a:t>
            </a:r>
            <a:br>
              <a:rPr lang="en-US" sz="2400" dirty="0"/>
            </a:br>
            <a:r>
              <a:rPr lang="en-US" sz="2400" dirty="0"/>
              <a:t> </a:t>
            </a:r>
            <a:br>
              <a:rPr lang="en-US" sz="2400" dirty="0"/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Thus, minimized Boolean expression is-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FF0000"/>
                </a:solidFill>
              </a:rPr>
              <a:t>F(A, B, C, D) = BD + C’D + B’D’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8434" name="Picture 2" descr="https://www.gatevidyalay.com/wp-content/uploads/2020/07/Karnaugh-Maps-Solved-Examples-Problem-01-Solu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335" y="310074"/>
            <a:ext cx="4675031" cy="353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3270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xfrm>
            <a:off x="422330" y="326778"/>
            <a:ext cx="10936835" cy="1463386"/>
          </a:xfrm>
          <a:prstGeom prst="rect">
            <a:avLst/>
          </a:prstGeom>
        </p:spPr>
        <p:txBody>
          <a:bodyPr wrap="square" lIns="121897" tIns="121897" rIns="121897" bIns="121897" anchor="ctr" anchorCtr="0">
            <a:noAutofit/>
          </a:bodyPr>
          <a:lstStyle/>
          <a:p>
            <a:pPr fontAlgn="base"/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Problem-02: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Minimize the following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function-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F(A, B, C, D) =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Σm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(0, 1, 3, 5, 7, 8, 9, 11, 13, 15)</a:t>
            </a:r>
          </a:p>
        </p:txBody>
      </p:sp>
    </p:spTree>
    <p:extLst>
      <p:ext uri="{BB962C8B-B14F-4D97-AF65-F5344CB8AC3E}">
        <p14:creationId xmlns:p14="http://schemas.microsoft.com/office/powerpoint/2010/main" val="33030459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xfrm>
            <a:off x="422330" y="326778"/>
            <a:ext cx="10936835" cy="1463386"/>
          </a:xfrm>
          <a:prstGeom prst="rect">
            <a:avLst/>
          </a:prstGeom>
        </p:spPr>
        <p:txBody>
          <a:bodyPr wrap="square" lIns="121897" tIns="121897" rIns="121897" bIns="121897" anchor="ctr" anchorCtr="0">
            <a:noAutofit/>
          </a:bodyPr>
          <a:lstStyle/>
          <a:p>
            <a:pPr fontAlgn="base"/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Problem-02: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Minimize the following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function-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F(A, B, C, D) =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Σm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(0, 1, 3, 5, 7, 8, 9, 11, 13, 15)</a:t>
            </a:r>
          </a:p>
        </p:txBody>
      </p:sp>
      <p:pic>
        <p:nvPicPr>
          <p:cNvPr id="23554" name="Picture 2" descr="https://www.gatevidyalay.com/wp-content/uploads/2020/07/Karnaugh-Maps-Solved-Examples-Problem-02-Solu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169" y="2210872"/>
            <a:ext cx="4764155" cy="390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8363083" y="4995861"/>
            <a:ext cx="2265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F(A, B, C, D) = B’C’ +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0672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xfrm>
            <a:off x="357936" y="674507"/>
            <a:ext cx="10936835" cy="1463386"/>
          </a:xfrm>
          <a:prstGeom prst="rect">
            <a:avLst/>
          </a:prstGeom>
        </p:spPr>
        <p:txBody>
          <a:bodyPr wrap="square" lIns="121897" tIns="121897" rIns="121897" bIns="121897" anchor="ctr" anchorCtr="0">
            <a:noAutofit/>
          </a:bodyPr>
          <a:lstStyle/>
          <a:p>
            <a:pPr fontAlgn="base"/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Problem-03: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Minimize the following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function-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F(A, B, C, D) =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Σm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(1, 3, 4, 6, 8, 9, 11, 13, 15) +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Σd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(0, 2, 14)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1683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xfrm>
            <a:off x="357936" y="674507"/>
            <a:ext cx="10936835" cy="1463386"/>
          </a:xfrm>
          <a:prstGeom prst="rect">
            <a:avLst/>
          </a:prstGeom>
        </p:spPr>
        <p:txBody>
          <a:bodyPr wrap="square" lIns="121897" tIns="121897" rIns="121897" bIns="121897" anchor="ctr" anchorCtr="0">
            <a:noAutofit/>
          </a:bodyPr>
          <a:lstStyle/>
          <a:p>
            <a:pPr fontAlgn="base"/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Problem-03: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Minimize the following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function-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F(A, B, C, D) =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Σm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(1, 3, 4, 6, 8, 9, 11, 13, 15) +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Σd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(0, 2, 14)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6" name="Picture 2" descr="https://www.gatevidyalay.com/wp-content/uploads/2020/07/Karnaugh-Maps-Solved-Examples-Problem-03-Solu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415" y="2185115"/>
            <a:ext cx="4764154" cy="363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8222514" y="4725404"/>
            <a:ext cx="3577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F(A, B, C, D) = AD + B’D + B’C’ + A’D’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2107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xfrm>
            <a:off x="267783" y="2335881"/>
            <a:ext cx="10936835" cy="1463386"/>
          </a:xfrm>
          <a:prstGeom prst="rect">
            <a:avLst/>
          </a:prstGeom>
        </p:spPr>
        <p:txBody>
          <a:bodyPr wrap="square" lIns="121897" tIns="121897" rIns="121897" bIns="121897" anchor="ctr" anchorCtr="0">
            <a:noAutofit/>
          </a:bodyPr>
          <a:lstStyle/>
          <a:p>
            <a:pPr fontAlgn="base"/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Thanks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301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33983</TotalTime>
  <Words>3264</Words>
  <Application>Microsoft Office PowerPoint</Application>
  <PresentationFormat>Widescreen</PresentationFormat>
  <Paragraphs>713</Paragraphs>
  <Slides>66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Arial</vt:lpstr>
      <vt:lpstr>Book Antiqua</vt:lpstr>
      <vt:lpstr>Calibri</vt:lpstr>
      <vt:lpstr>Calibri Light</vt:lpstr>
      <vt:lpstr>Cambria Math</vt:lpstr>
      <vt:lpstr>Times New Roman</vt:lpstr>
      <vt:lpstr>Wingdings</vt:lpstr>
      <vt:lpstr>Office Theme</vt:lpstr>
      <vt:lpstr>Visio</vt:lpstr>
      <vt:lpstr>  ICT 2103 Digital Logic Design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is the behavior implemented</vt:lpstr>
      <vt:lpstr>PowerPoint Presentation</vt:lpstr>
      <vt:lpstr>Combinational Circuits</vt:lpstr>
      <vt:lpstr>Combinational Circuits</vt:lpstr>
      <vt:lpstr>PowerPoint Presentation</vt:lpstr>
      <vt:lpstr>PowerPoint Presentation</vt:lpstr>
      <vt:lpstr>Combinational Circuits</vt:lpstr>
      <vt:lpstr>Analysis Procedure</vt:lpstr>
      <vt:lpstr>Analysis Procedure</vt:lpstr>
      <vt:lpstr>Analysis Procedure</vt:lpstr>
      <vt:lpstr>Analysis Procedure</vt:lpstr>
      <vt:lpstr>Analysis Procedure</vt:lpstr>
      <vt:lpstr>Analysis Procedure</vt:lpstr>
      <vt:lpstr>Analysis Procedure</vt:lpstr>
      <vt:lpstr>Analysis Procedure</vt:lpstr>
      <vt:lpstr>Analysis Procedure</vt:lpstr>
      <vt:lpstr>Design Procedure</vt:lpstr>
      <vt:lpstr>Analysis Procedure</vt:lpstr>
      <vt:lpstr>PowerPoint Presentation</vt:lpstr>
      <vt:lpstr>The Map Method</vt:lpstr>
      <vt:lpstr>PowerPoint Presentation</vt:lpstr>
      <vt:lpstr>Two-Variable Map</vt:lpstr>
      <vt:lpstr>Three-variable Map</vt:lpstr>
      <vt:lpstr>Three-variable 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Problem-01:   Minimize the following boolean function- F(A, B, C, D) = Σm(0, 1, 2, 5, 7, 8, 9, 10, 13, 15) </vt:lpstr>
      <vt:lpstr>Now, F(A, B, C, D) = (A’B + AB)(C’D + CD) + (A’B’ + A’B + AB + AB’)C’D + (A’B’ + AB’)(C’D’ + CD’) = BD + C’D + B’D’   Thus, minimized Boolean expression is- F(A, B, C, D) = BD + C’D + B’D’</vt:lpstr>
      <vt:lpstr>Problem-02:   Minimize the following boolean function- F(A, B, C, D) = Σm(0, 1, 3, 5, 7, 8, 9, 11, 13, 15)</vt:lpstr>
      <vt:lpstr>Problem-02:   Minimize the following boolean function- F(A, B, C, D) = Σm(0, 1, 3, 5, 7, 8, 9, 11, 13, 15)</vt:lpstr>
      <vt:lpstr>Problem-03:   Minimize the following boolean function- F(A, B, C, D) = Σm(1, 3, 4, 6, 8, 9, 11, 13, 15) + Σd(0, 2, 14)   </vt:lpstr>
      <vt:lpstr>Problem-03:   Minimize the following boolean function- F(A, B, C, D) = Σm(1, 3, 4, 6, 8, 9, 11, 13, 15) + Σd(0, 2, 14)   </vt:lpstr>
      <vt:lpstr>Thanks  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</dc:title>
  <dc:creator>Hp</dc:creator>
  <cp:lastModifiedBy>Perfect</cp:lastModifiedBy>
  <cp:revision>276</cp:revision>
  <dcterms:created xsi:type="dcterms:W3CDTF">2021-06-16T02:53:36Z</dcterms:created>
  <dcterms:modified xsi:type="dcterms:W3CDTF">2025-01-12T06:42:54Z</dcterms:modified>
</cp:coreProperties>
</file>